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4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0E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817352" cy="2664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CCTECH INTERNSHIP CAPSTONE PROJECT</a:t>
            </a:r>
          </a:p>
          <a:p>
            <a:pPr>
              <a:spcAft>
                <a:spcPts val="800"/>
              </a:spcAft>
              <a:defRPr sz="64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Localizer App</a:t>
            </a:r>
          </a:p>
          <a:p>
            <a:pPr>
              <a:spcAft>
                <a:spcPts val="4500"/>
              </a:spcAft>
              <a:defRPr sz="2000">
                <a:solidFill>
                  <a:srgbClr val="94A3B8"/>
                </a:solidFill>
                <a:latin typeface="Century Gothic" panose="020B0502020202020204"/>
              </a:defRPr>
            </a:pPr>
            <a:r>
              <a:t>AI-Powered Software Localization Engine for Enterprise CAD/BIM Applications</a:t>
            </a:r>
          </a:p>
          <a:p>
            <a:pPr>
              <a:defRPr sz="1200" b="1">
                <a:solidFill>
                  <a:srgbClr val="F8FAFC"/>
                </a:solidFill>
                <a:latin typeface="Montserrat"/>
              </a:defRPr>
            </a:pPr>
            <a:r>
              <a:t>Developed by </a:t>
            </a:r>
            <a:r>
              <a:rPr lang="en-IN"/>
              <a:t>Sarthak Mahadik and Ganesh Chavan </a:t>
            </a:r>
            <a:endParaRPr lang="en-IN"/>
          </a:p>
          <a:p>
            <a:pPr>
              <a:defRPr sz="1200" b="1">
                <a:solidFill>
                  <a:srgbClr val="F8FAFC"/>
                </a:solidFill>
                <a:latin typeface="Montserrat"/>
              </a:defRPr>
            </a:pPr>
            <a:r>
              <a:t>Project Mentor: CCTech &amp; Autodesk Stakeholders  |  Date: June 2</a:t>
            </a:r>
            <a:r>
              <a:rPr lang="en-IN"/>
              <a:t>2</a:t>
            </a:r>
            <a:r>
              <a:t>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TRADITIONAL LSP SOURCING VS. COMMUNITY-LED AI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The Business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840480" cy="475488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34747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EF4444"/>
                </a:solidFill>
                <a:latin typeface="Century Gothic" panose="020B0502020202020204"/>
              </a:defRPr>
            </a:pPr>
            <a:r>
              <a:t>$10,000,000</a:t>
            </a:r>
          </a:p>
          <a:p>
            <a:pPr>
              <a:spcAft>
                <a:spcPts val="1500"/>
              </a:spcAft>
              <a:defRPr sz="11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Annual Autodesk LSP Localization Spend</a:t>
            </a:r>
          </a:p>
          <a:p>
            <a:pPr>
              <a:lnSpc>
                <a:spcPct val="120000"/>
              </a:lnSpc>
              <a:defRPr sz="1050">
                <a:solidFill>
                  <a:srgbClr val="CBD5E1"/>
                </a:solidFill>
                <a:latin typeface="Montserrat"/>
              </a:defRPr>
            </a:pPr>
            <a:r>
              <a:t>Software localization for global CAD/BIM products traditionally depends on Language Service Providers (LSPs), resulting in high costs, long turnaround times, and limited scalability.</a:t>
            </a:r>
            <a:br/>
            <a:br/>
            <a:r>
              <a:t>Autodesk aims to explore a fundamentally different approach by leveraging employees, customers, partners, and the user community as translation contributors while using AI for quality assurance.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645920"/>
            <a:ext cx="3291840" cy="141732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755648"/>
            <a:ext cx="3017520" cy="1197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🌍 Uneven Community Participation</a:t>
            </a:r>
          </a:p>
          <a:p>
            <a:pPr>
              <a:lnSpc>
                <a:spcPct val="110000"/>
              </a:lnSpc>
              <a:defRPr sz="850">
                <a:solidFill>
                  <a:srgbClr val="CBD5E1"/>
                </a:solidFill>
                <a:latin typeface="Montserrat"/>
              </a:defRPr>
            </a:pPr>
            <a:r>
              <a:t>Community contributions vary significantly across languages, making it difficult to ensure consistent coverage for all supported languages.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0456" y="1645920"/>
            <a:ext cx="3291840" cy="141732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7616" y="1755648"/>
            <a:ext cx="3017520" cy="7816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🤖 </a:t>
            </a:r>
            <a:r>
              <a:rPr lang="en-US" altLang="en-US"/>
              <a:t>Scalability of Review Process</a:t>
            </a:r>
          </a:p>
          <a:p>
            <a:pPr>
              <a:lnSpc>
                <a:spcPct val="110000"/>
              </a:lnSpc>
              <a:defRPr sz="850">
                <a:solidFill>
                  <a:srgbClr val="CBD5E1"/>
                </a:solidFill>
                <a:latin typeface="Montserrat"/>
              </a:defRPr>
            </a:pPr>
            <a:r>
              <a:rPr lang="en-US" altLang="en-US"/>
              <a:t>As the number of community contributions grows, efficiently reviewing, approving, and integrating translations becomes increasingly challenging without intelligent automation.</a:t>
            </a:r>
            <a:endParaRPr lang="en-US" altLang="en-US"/>
          </a:p>
        </p:txBody>
      </p:sp>
      <p:sp>
        <p:nvSpPr>
          <p:cNvPr id="11" name="Rounded Rectangle 10"/>
          <p:cNvSpPr/>
          <p:nvPr/>
        </p:nvSpPr>
        <p:spPr>
          <a:xfrm>
            <a:off x="4709160" y="3310128"/>
            <a:ext cx="3291840" cy="141732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419856"/>
            <a:ext cx="3017520" cy="1197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📚 Terminology &amp; Brand Consistency</a:t>
            </a:r>
          </a:p>
          <a:p>
            <a:pPr>
              <a:lnSpc>
                <a:spcPct val="110000"/>
              </a:lnSpc>
              <a:defRPr sz="850">
                <a:solidFill>
                  <a:srgbClr val="CBD5E1"/>
                </a:solidFill>
                <a:latin typeface="Montserrat"/>
              </a:defRPr>
            </a:pPr>
            <a:r>
              <a:t>Community-generated translations may fail to adhere to Autodesk's domain-specific terminology, product voice, and brand guidelines.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0456" y="3310128"/>
            <a:ext cx="3291840" cy="141732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3419856"/>
            <a:ext cx="3017520" cy="1197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⚖️ Legal &amp; Intellectual Property</a:t>
            </a:r>
          </a:p>
          <a:p>
            <a:pPr>
              <a:lnSpc>
                <a:spcPct val="110000"/>
              </a:lnSpc>
              <a:defRPr sz="850">
                <a:solidFill>
                  <a:srgbClr val="CBD5E1"/>
                </a:solidFill>
                <a:latin typeface="Montserrat"/>
              </a:defRPr>
            </a:pPr>
            <a:r>
              <a:t>Accepting translations from external contributors raises ownership, licensing, and intellectual property ambiguities for proprietary product content.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4974336"/>
            <a:ext cx="3291840" cy="141732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5084064"/>
            <a:ext cx="3017520" cy="1197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🏢 Organizational Adoption Risks</a:t>
            </a:r>
          </a:p>
          <a:p>
            <a:pPr>
              <a:lnSpc>
                <a:spcPct val="110000"/>
              </a:lnSpc>
              <a:defRPr sz="850">
                <a:solidFill>
                  <a:srgbClr val="CBD5E1"/>
                </a:solidFill>
                <a:latin typeface="Montserrat"/>
              </a:defRPr>
            </a:pPr>
            <a:r>
              <a:t>Transitioning from an LSP-driven workflow to a community-sourced model may face resistance due to existing vendor relationships and established localization processes.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6" y="4974336"/>
            <a:ext cx="3291840" cy="141732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5084064"/>
            <a:ext cx="3017520" cy="1197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🔄 Maintaining Quality at Scale</a:t>
            </a:r>
          </a:p>
          <a:p>
            <a:pPr>
              <a:lnSpc>
                <a:spcPct val="110000"/>
              </a:lnSpc>
              <a:defRPr sz="850">
                <a:solidFill>
                  <a:srgbClr val="CBD5E1"/>
                </a:solidFill>
                <a:latin typeface="Montserrat"/>
              </a:defRPr>
            </a:pPr>
            <a:r>
              <a:t>Ensuring that community-sourced translations achieve quality levels comparable to professional LSPs while significantly reducing costs is a major challenge.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DIRECT BUSINESS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The Solution: Localizer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Automated, AI-Assisted CAD Localization Studio</a:t>
            </a:r>
          </a:p>
          <a:p>
            <a:pPr>
              <a:lnSpc>
                <a:spcPct val="130000"/>
              </a:lnSpc>
              <a:spcAft>
                <a:spcPts val="2400"/>
              </a:spcAft>
              <a:defRPr sz="1200">
                <a:solidFill>
                  <a:srgbClr val="CBD5E1"/>
                </a:solidFill>
                <a:latin typeface="Montserrat"/>
              </a:defRPr>
            </a:pPr>
            <a:r>
              <a:t>Localizer App bridges resource lexer tokenizers with Google Gemini AI. The tool delivers a streamlined, desktop-integrated translation workspace: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F8FAFC"/>
                </a:solidFill>
                <a:latin typeface="Montserrat"/>
              </a:rPr>
              <a:t>📦 Automated Extraction: </a:t>
            </a:r>
            <a:r>
              <a:rPr sz="1100">
                <a:solidFill>
                  <a:srgbClr val="94A3B8"/>
                </a:solidFill>
                <a:latin typeface="Montserrat"/>
              </a:rPr>
              <a:t>Reads C++ .rc files directly, targetting string tables while ignoring macros/comments.</a:t>
            </a:r>
            <a:endParaRPr sz="1100">
              <a:solidFill>
                <a:srgbClr val="94A3B8"/>
              </a:solidFill>
              <a:latin typeface="Montserrat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F8FAFC"/>
                </a:solidFill>
                <a:latin typeface="Montserrat"/>
              </a:rPr>
              <a:t>⚡ Sub-ms Local Caching: </a:t>
            </a:r>
            <a:r>
              <a:rPr sz="1100">
                <a:solidFill>
                  <a:srgbClr val="94A3B8"/>
                </a:solidFill>
                <a:latin typeface="Montserrat"/>
              </a:rPr>
              <a:t>Translation Memory holds previous translations and validations to prevent API costs.</a:t>
            </a:r>
            <a:endParaRPr sz="1100">
              <a:solidFill>
                <a:srgbClr val="94A3B8"/>
              </a:solidFill>
              <a:latin typeface="Montserrat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F8FAFC"/>
                </a:solidFill>
                <a:latin typeface="Montserrat"/>
              </a:rPr>
              <a:t>🛡️ Double-Layer Guard: </a:t>
            </a:r>
            <a:r>
              <a:rPr sz="1100">
                <a:solidFill>
                  <a:srgbClr val="94A3B8"/>
                </a:solidFill>
                <a:latin typeface="Montserrat"/>
              </a:rPr>
              <a:t>Validates syntax placeholders locally + executes Gemini AI QA evaluations.</a:t>
            </a:r>
            <a:endParaRPr sz="1100">
              <a:solidFill>
                <a:srgbClr val="94A3B8"/>
              </a:solidFill>
              <a:latin typeface="Montserrat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F8FAFC"/>
                </a:solidFill>
                <a:latin typeface="Montserrat"/>
              </a:rPr>
              <a:t>🖥️ Simulative Workspace Dialogs: </a:t>
            </a:r>
            <a:r>
              <a:rPr sz="1100">
                <a:solidFill>
                  <a:srgbClr val="94A3B8"/>
                </a:solidFill>
                <a:latin typeface="Montserrat"/>
              </a:rPr>
              <a:t>Overlays edits in real-time on a virtual UI mockup, verifying spacing before export.</a:t>
            </a:r>
            <a:endParaRPr sz="1100">
              <a:solidFill>
                <a:srgbClr val="94A3B8"/>
              </a:solidFill>
              <a:latin typeface="Montserra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17920" y="1725678"/>
            <a:ext cx="5285232" cy="21945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9360" y="1789686"/>
            <a:ext cx="45720" cy="457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37376" y="1789686"/>
            <a:ext cx="45720" cy="457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5392" y="1789686"/>
            <a:ext cx="45720" cy="45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shboard mainu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945134"/>
            <a:ext cx="5285232" cy="355294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0" y="1725678"/>
            <a:ext cx="5285232" cy="3772402"/>
          </a:xfrm>
          <a:prstGeom prst="rect">
            <a:avLst/>
          </a:prstGeom>
          <a:noFill/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5543801"/>
            <a:ext cx="5285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  <a:latin typeface="Montserrat"/>
              </a:defRPr>
            </a:pPr>
            <a:r>
              <a:t>Figure: Main Application Grid showing loaded workspace status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ENGINEERED FOR PRODUCT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Key Features &amp;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328416" cy="201168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30540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🔍 RC File Parsing</a:t>
            </a:r>
          </a:p>
          <a:p>
            <a:pPr>
              <a:lnSpc>
                <a:spcPct val="115000"/>
              </a:lnSpc>
              <a:defRPr sz="950">
                <a:solidFill>
                  <a:srgbClr val="CBD5E1"/>
                </a:solidFill>
                <a:latin typeface="Montserrat"/>
              </a:defRPr>
            </a:pPr>
            <a:r>
              <a:t>Scans C++ Resource Scripts natively. Identifies translatable strings inside STRINGTABLE blocks while preserving coordinate offsets.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201168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783080"/>
            <a:ext cx="30540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🧠 AI Translation Workflow</a:t>
            </a:r>
          </a:p>
          <a:p>
            <a:pPr>
              <a:lnSpc>
                <a:spcPct val="115000"/>
              </a:lnSpc>
              <a:defRPr sz="950">
                <a:solidFill>
                  <a:srgbClr val="CBD5E1"/>
                </a:solidFill>
                <a:latin typeface="Montserrat"/>
              </a:defRPr>
            </a:pPr>
            <a:r>
              <a:t>Translates string batches using Gemini model fallback logic, selecting optimal words using specialized CAD/BIM terminology lists.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1645920"/>
            <a:ext cx="3328416" cy="201168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783080"/>
            <a:ext cx="30540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⚡ Translation Memory Cache</a:t>
            </a:r>
          </a:p>
          <a:p>
            <a:pPr>
              <a:lnSpc>
                <a:spcPct val="115000"/>
              </a:lnSpc>
              <a:defRPr sz="950">
                <a:solidFill>
                  <a:srgbClr val="CBD5E1"/>
                </a:solidFill>
                <a:latin typeface="Montserrat"/>
              </a:defRPr>
            </a:pPr>
            <a:r>
              <a:t>Saves translations, QA scores, and feedbacks. Bypasses Gemini API calls for identical source keys, cutting costs to $0.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931920"/>
            <a:ext cx="3328416" cy="201168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69080"/>
            <a:ext cx="30540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🛡️ Glossary Validation</a:t>
            </a:r>
          </a:p>
          <a:p>
            <a:pPr>
              <a:lnSpc>
                <a:spcPct val="115000"/>
              </a:lnSpc>
              <a:defRPr sz="950">
                <a:solidFill>
                  <a:srgbClr val="CBD5E1"/>
                </a:solidFill>
                <a:latin typeface="Montserrat"/>
              </a:defRPr>
            </a:pPr>
            <a:r>
              <a:t>Enforces formatting checks (escapes and parameters) to prevent crashes, combined with Gemini linguistic quality evaluations.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3931920"/>
            <a:ext cx="3328416" cy="201168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4069080"/>
            <a:ext cx="30540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🖥️ Simulative Preview Window</a:t>
            </a:r>
          </a:p>
          <a:p>
            <a:pPr>
              <a:lnSpc>
                <a:spcPct val="115000"/>
              </a:lnSpc>
              <a:defRPr sz="950">
                <a:solidFill>
                  <a:srgbClr val="CBD5E1"/>
                </a:solidFill>
                <a:latin typeface="Montserrat"/>
              </a:defRPr>
            </a:pPr>
            <a:r>
              <a:t>Mockup workspace displaying menu ribbons and properties panels, dynamically populated to verify text overflows live.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65592" y="3931920"/>
            <a:ext cx="3328416" cy="201168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4069080"/>
            <a:ext cx="30540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📁 Safe Localized Export</a:t>
            </a:r>
          </a:p>
          <a:p>
            <a:pPr>
              <a:lnSpc>
                <a:spcPct val="115000"/>
              </a:lnSpc>
              <a:defRPr sz="950">
                <a:solidFill>
                  <a:srgbClr val="CBD5E1"/>
                </a:solidFill>
                <a:latin typeface="Montserrat"/>
              </a:defRPr>
            </a:pPr>
            <a:r>
              <a:t>Generates C++ resource script files in-place using back-to-front replacement, keeping layout coordinate files perfectly intact.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PARSING AND SEGMENTING WINDOWS RESOURCE SCRIPTS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Step 1: Ingestion &amp; Resource Parsing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Automated Lexical Ingestion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1200">
                <a:solidFill>
                  <a:srgbClr val="CBD5E1"/>
                </a:solidFill>
                <a:latin typeface="Montserrat"/>
              </a:defRPr>
            </a:pPr>
            <a:r>
              <a:t>The pipeline begins by ingesting the target C++ `.rc` file. The custom tokenizer immediately parses structure without modifying code: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100" b="1">
                <a:solidFill>
                  <a:srgbClr val="F8FAFC"/>
                </a:solidFill>
                <a:latin typeface="Montserrat"/>
              </a:rPr>
              <a:t>🔍 Tokenizer Extraction: </a:t>
            </a:r>
            <a:r>
              <a:rPr sz="1100">
                <a:solidFill>
                  <a:srgbClr val="94A3B8"/>
                </a:solidFill>
                <a:latin typeface="Montserrat"/>
              </a:rPr>
              <a:t>Identifies all key-value entries localized strictly inside STRINGTABLE boundaries.</a:t>
            </a:r>
            <a:endParaRPr sz="1100">
              <a:solidFill>
                <a:srgbClr val="94A3B8"/>
              </a:solidFill>
              <a:latin typeface="Montserrat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100" b="1">
                <a:solidFill>
                  <a:srgbClr val="F8FAFC"/>
                </a:solidFill>
                <a:latin typeface="Montserrat"/>
              </a:rPr>
              <a:t>🔒 Offset Coordinate Mapping: </a:t>
            </a:r>
            <a:r>
              <a:rPr sz="1100">
                <a:solidFill>
                  <a:srgbClr val="94A3B8"/>
                </a:solidFill>
                <a:latin typeface="Montserrat"/>
              </a:rPr>
              <a:t>Captures precise start/end index offsets of string values, ensuring character positions are recorded.</a:t>
            </a:r>
            <a:endParaRPr sz="1100">
              <a:solidFill>
                <a:srgbClr val="94A3B8"/>
              </a:solidFill>
              <a:latin typeface="Montserrat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100" b="1">
                <a:solidFill>
                  <a:srgbClr val="F8FAFC"/>
                </a:solidFill>
                <a:latin typeface="Montserrat"/>
              </a:rPr>
              <a:t>🚫 Non-Destructive Filtering: </a:t>
            </a:r>
            <a:r>
              <a:rPr sz="1100">
                <a:solidFill>
                  <a:srgbClr val="94A3B8"/>
                </a:solidFill>
                <a:latin typeface="Montserrat"/>
              </a:rPr>
              <a:t>Ignores compiler directive macros (#ifdef, #endif) and comments, preventing codebase corruption.</a:t>
            </a:r>
            <a:endParaRPr sz="1100">
              <a:solidFill>
                <a:srgbClr val="94A3B8"/>
              </a:solidFill>
              <a:latin typeface="Montserra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17920" y="1725678"/>
            <a:ext cx="5285232" cy="21945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9360" y="1789686"/>
            <a:ext cx="45720" cy="457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37376" y="1789686"/>
            <a:ext cx="45720" cy="457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5392" y="1789686"/>
            <a:ext cx="45720" cy="45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i_After_Selecting_Rc fi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945134"/>
            <a:ext cx="5285232" cy="355294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0" y="1725678"/>
            <a:ext cx="5285232" cy="3772402"/>
          </a:xfrm>
          <a:prstGeom prst="rect">
            <a:avLst/>
          </a:prstGeom>
          <a:noFill/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5543801"/>
            <a:ext cx="5285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  <a:latin typeface="Montserrat"/>
              </a:defRPr>
            </a:pPr>
            <a:r>
              <a:t>Workspace: Strings successfully extracted and populated into UI grid editor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CONTEXT-AWARE COGNITIVE TRANSLATION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Step 2: AI-Powered Batch Translation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Parallel Cognitive Batches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1200">
                <a:solidFill>
                  <a:srgbClr val="CBD5E1"/>
                </a:solidFill>
                <a:latin typeface="Montserrat"/>
              </a:defRPr>
            </a:pPr>
            <a:r>
              <a:t>Missing string keys are processed in parallel batches. Cognitive prompts map translations using domain vocabulary definitions: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100" b="1">
                <a:solidFill>
                  <a:srgbClr val="F8FAFC"/>
                </a:solidFill>
                <a:latin typeface="Montserrat"/>
              </a:rPr>
              <a:t>🧠 Specialized Glossary Prompts: </a:t>
            </a:r>
            <a:r>
              <a:rPr sz="1100">
                <a:solidFill>
                  <a:srgbClr val="94A3B8"/>
                </a:solidFill>
                <a:latin typeface="Montserrat"/>
              </a:rPr>
              <a:t>Forces the AI model to match domain-specific terms (e.g. AutoCAD 'Draft' vs literal 'Wind draft').</a:t>
            </a:r>
            <a:endParaRPr sz="1100">
              <a:solidFill>
                <a:srgbClr val="94A3B8"/>
              </a:solidFill>
              <a:latin typeface="Montserrat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100" b="1">
                <a:solidFill>
                  <a:srgbClr val="F8FAFC"/>
                </a:solidFill>
                <a:latin typeface="Montserrat"/>
              </a:rPr>
              <a:t>⚡ Parallel Async Batches: </a:t>
            </a:r>
            <a:r>
              <a:rPr sz="1100">
                <a:solidFill>
                  <a:srgbClr val="94A3B8"/>
                </a:solidFill>
                <a:latin typeface="Montserrat"/>
              </a:rPr>
              <a:t>Group keys to reduce API call overhead, achieving sub-second batch translation times.</a:t>
            </a:r>
            <a:endParaRPr sz="1100">
              <a:solidFill>
                <a:srgbClr val="94A3B8"/>
              </a:solidFill>
              <a:latin typeface="Montserrat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100" b="1">
                <a:solidFill>
                  <a:srgbClr val="F8FAFC"/>
                </a:solidFill>
                <a:latin typeface="Montserrat"/>
              </a:rPr>
              <a:t>🔄 Resilient Model Fallbacks: </a:t>
            </a:r>
            <a:r>
              <a:rPr sz="1100">
                <a:solidFill>
                  <a:srgbClr val="94A3B8"/>
                </a:solidFill>
                <a:latin typeface="Montserrat"/>
              </a:rPr>
              <a:t>Automatically routes requests through flash alternatives (3.5 -&gt; 2.5 -&gt; 1.5) if rate limits hit.</a:t>
            </a:r>
            <a:endParaRPr sz="1100">
              <a:solidFill>
                <a:srgbClr val="94A3B8"/>
              </a:solidFill>
              <a:latin typeface="Montserra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17920" y="1725678"/>
            <a:ext cx="5285232" cy="21945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9360" y="1789686"/>
            <a:ext cx="45720" cy="457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37376" y="1789686"/>
            <a:ext cx="45720" cy="457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5392" y="1789686"/>
            <a:ext cx="45720" cy="45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I_After_Translating_rc_string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945134"/>
            <a:ext cx="5285232" cy="355294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0" y="1725678"/>
            <a:ext cx="5285232" cy="3772402"/>
          </a:xfrm>
          <a:prstGeom prst="rect">
            <a:avLst/>
          </a:prstGeom>
          <a:noFill/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5543801"/>
            <a:ext cx="5285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  <a:latin typeface="Montserrat"/>
              </a:defRPr>
            </a:pPr>
            <a:r>
              <a:t>WPF Workspace: Main translation editor grid after running AI batch translation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COMBINING LOCAL SYNTAX VERIFICATION WITH AI-POWERED QUALITY AUDITS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Step 3: Dual-Layer Validation &amp; QA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Unified QA Panel &amp; Diagnostics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1200">
                <a:solidFill>
                  <a:srgbClr val="CBD5E1"/>
                </a:solidFill>
                <a:latin typeface="Montserrat"/>
              </a:defRPr>
            </a:pPr>
            <a:r>
              <a:t>Clicking 'Validate' runs double-layer diagnostic checks. The Validation Panel slides open on the right side of the main workspace: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100" b="1">
                <a:solidFill>
                  <a:srgbClr val="F8FAFC"/>
                </a:solidFill>
                <a:latin typeface="Montserrat"/>
              </a:rPr>
              <a:t>✔️ Local Placeholder Verifiers: </a:t>
            </a:r>
            <a:r>
              <a:rPr sz="1100">
                <a:solidFill>
                  <a:srgbClr val="94A3B8"/>
                </a:solidFill>
                <a:latin typeface="Montserrat"/>
              </a:rPr>
              <a:t>Scans parameter counts (%s, %d, {0}) to guarantee C++ compiler safety.</a:t>
            </a:r>
            <a:endParaRPr sz="1100">
              <a:solidFill>
                <a:srgbClr val="94A3B8"/>
              </a:solidFill>
              <a:latin typeface="Montserrat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100" b="1">
                <a:solidFill>
                  <a:srgbClr val="F8FAFC"/>
                </a:solidFill>
                <a:latin typeface="Montserrat"/>
              </a:rPr>
              <a:t>🧠 Gemini AI Quality Rating: </a:t>
            </a:r>
            <a:r>
              <a:rPr sz="1100">
                <a:solidFill>
                  <a:srgbClr val="94A3B8"/>
                </a:solidFill>
                <a:latin typeface="Montserrat"/>
              </a:rPr>
              <a:t>Evaluates context, scoring translations from 0 to 100, and categorizes into Excellent, Good, or Review tags.</a:t>
            </a:r>
            <a:endParaRPr sz="1100">
              <a:solidFill>
                <a:srgbClr val="94A3B8"/>
              </a:solidFill>
              <a:latin typeface="Montserrat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100" b="1">
                <a:solidFill>
                  <a:srgbClr val="F8FAFC"/>
                </a:solidFill>
                <a:latin typeface="Montserrat"/>
              </a:rPr>
              <a:t>📝 Actionable QA Feedback: </a:t>
            </a:r>
            <a:r>
              <a:rPr sz="1100">
                <a:solidFill>
                  <a:srgbClr val="94A3B8"/>
                </a:solidFill>
                <a:latin typeface="Montserrat"/>
              </a:rPr>
              <a:t>Logs clear error descriptions and improvement recommendations inside the grid feedback cells.</a:t>
            </a:r>
            <a:endParaRPr sz="1100">
              <a:solidFill>
                <a:srgbClr val="94A3B8"/>
              </a:solidFill>
              <a:latin typeface="Montserra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17920" y="2038926"/>
            <a:ext cx="5285232" cy="21945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9360" y="2102934"/>
            <a:ext cx="45720" cy="457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37376" y="2102934"/>
            <a:ext cx="45720" cy="457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5392" y="2102934"/>
            <a:ext cx="45720" cy="45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I_after_validating_str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258382"/>
            <a:ext cx="5285232" cy="29264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0" y="2038926"/>
            <a:ext cx="5285232" cy="3145906"/>
          </a:xfrm>
          <a:prstGeom prst="rect">
            <a:avLst/>
          </a:prstGeom>
          <a:noFill/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5230553"/>
            <a:ext cx="5285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  <a:latin typeface="Montserrat"/>
              </a:defRPr>
            </a:pPr>
            <a:r>
              <a:t>Linguistic Quality Audit: Side-by-side validation panels displaying local syntax checks and AI QA scorecards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REAL-TIME VISUAL LAYOUT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Step 4: Visual Dialogue Simulation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949960"/>
            <a:ext cx="5120640" cy="21945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013968"/>
            <a:ext cx="45720" cy="457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" y="2013968"/>
            <a:ext cx="45720" cy="457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013968"/>
            <a:ext cx="45720" cy="45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eview_UI_IN_Englis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69416"/>
            <a:ext cx="5120640" cy="283006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5800" y="1949960"/>
            <a:ext cx="5120640" cy="3049519"/>
          </a:xfrm>
          <a:prstGeom prst="rect">
            <a:avLst/>
          </a:prstGeom>
          <a:noFill/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04519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  <a:latin typeface="Montserrat"/>
              </a:defRPr>
            </a:pPr>
            <a:r>
              <a:t>Standard English UI Dialog Mockup Layout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82512" y="1952619"/>
            <a:ext cx="5120640" cy="21945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2016627"/>
            <a:ext cx="45720" cy="457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01968" y="2016627"/>
            <a:ext cx="45720" cy="457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29984" y="2016627"/>
            <a:ext cx="45720" cy="45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review_Ui_In_Japane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172075"/>
            <a:ext cx="5120640" cy="282474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382512" y="1952619"/>
            <a:ext cx="5120640" cy="3044201"/>
          </a:xfrm>
          <a:prstGeom prst="rect">
            <a:avLst/>
          </a:prstGeom>
          <a:noFill/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50425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  <a:latin typeface="Montserrat"/>
              </a:defRPr>
            </a:pPr>
            <a:r>
              <a:t>Japanese Localized UI Dialog Mockup Overlay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623560"/>
            <a:ext cx="10817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Montserrat"/>
              </a:defRPr>
            </a:pPr>
            <a:r>
              <a:t>Linguistic validation is overlaid in-memory. Designers can instantly review if a translated string overflows menu borders or overlaps labels before generating compiled binary outputs.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REVERSE INDEX-SAFE SEGMENT REPLACEMENTS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Step 5: Coordinate-Safe Resource Rebuilder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Bottom-Up String Injector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1200">
                <a:solidFill>
                  <a:srgbClr val="CBD5E1"/>
                </a:solidFill>
                <a:latin typeface="Montserrat"/>
              </a:defRPr>
            </a:pPr>
            <a:r>
              <a:t>Modifying C++ resource scripts (.rc) can corrupt character coordinate layouts if segment lengths alter. The generator implements a bottom-up parsing replace loop: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100" b="1">
                <a:solidFill>
                  <a:srgbClr val="F8FAFC"/>
                </a:solidFill>
                <a:latin typeface="Montserrat"/>
              </a:rPr>
              <a:t>🔄 Descending Replace Loop: </a:t>
            </a:r>
            <a:r>
              <a:rPr sz="1100">
                <a:solidFill>
                  <a:srgbClr val="94A3B8"/>
                </a:solidFill>
                <a:latin typeface="Montserrat"/>
              </a:rPr>
              <a:t>Sorts translatable strings in descending order based on their character offsets before inserting translations.</a:t>
            </a:r>
            <a:endParaRPr sz="1100">
              <a:solidFill>
                <a:srgbClr val="94A3B8"/>
              </a:solidFill>
              <a:latin typeface="Montserrat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100" b="1">
                <a:solidFill>
                  <a:srgbClr val="F8FAFC"/>
                </a:solidFill>
                <a:latin typeface="Montserrat"/>
              </a:rPr>
              <a:t>🔒 Spacing &amp; Comment Preservation: </a:t>
            </a:r>
            <a:r>
              <a:rPr sz="1100">
                <a:solidFill>
                  <a:srgbClr val="94A3B8"/>
                </a:solidFill>
                <a:latin typeface="Montserrat"/>
              </a:rPr>
              <a:t>Only modifies targeted string literals, keeping preceding spacing, includes, and headers intact.</a:t>
            </a:r>
            <a:endParaRPr sz="1100">
              <a:solidFill>
                <a:srgbClr val="94A3B8"/>
              </a:solidFill>
              <a:latin typeface="Montserrat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100" b="1">
                <a:solidFill>
                  <a:srgbClr val="F8FAFC"/>
                </a:solidFill>
                <a:latin typeface="Montserrat"/>
              </a:rPr>
              <a:t>📝 Proper Escaping Rules: </a:t>
            </a:r>
            <a:r>
              <a:rPr sz="1100">
                <a:solidFill>
                  <a:srgbClr val="94A3B8"/>
                </a:solidFill>
                <a:latin typeface="Montserrat"/>
              </a:rPr>
              <a:t>Automatically doubles nested quotes inside string segments to adhere strictly to C++ compiler standards.</a:t>
            </a:r>
            <a:endParaRPr sz="1100">
              <a:solidFill>
                <a:srgbClr val="94A3B8"/>
              </a:solidFill>
              <a:latin typeface="Montserra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17920" y="2032621"/>
            <a:ext cx="5285232" cy="21945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09360" y="2096629"/>
            <a:ext cx="45720" cy="457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37376" y="2096629"/>
            <a:ext cx="45720" cy="457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5392" y="2096629"/>
            <a:ext cx="45720" cy="457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I_while_saving_the_localized_rc_fi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252077"/>
            <a:ext cx="5285232" cy="29390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0" y="2032621"/>
            <a:ext cx="5285232" cy="3158516"/>
          </a:xfrm>
          <a:prstGeom prst="rect">
            <a:avLst/>
          </a:prstGeom>
          <a:noFill/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5236858"/>
            <a:ext cx="5285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i="1">
                <a:solidFill>
                  <a:srgbClr val="94A3B8"/>
                </a:solidFill>
                <a:latin typeface="Montserrat"/>
              </a:defRPr>
            </a:pPr>
            <a:r>
              <a:t>File Generation: Saving the compiled localized resource script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END-TO-END LOCALIZER 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How It Works: The Automated Data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3566160"/>
            <a:ext cx="108173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1965960" cy="402336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83080"/>
            <a:ext cx="1746504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1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INGEST &amp; LEX</a:t>
            </a:r>
          </a:p>
          <a:p>
            <a:pPr>
              <a:lnSpc>
                <a:spcPct val="115000"/>
              </a:lnSpc>
              <a:defRPr sz="850">
                <a:solidFill>
                  <a:srgbClr val="CBD5E1"/>
                </a:solidFill>
                <a:latin typeface="Montserrat"/>
              </a:defRPr>
            </a:pPr>
            <a:r>
              <a:t>Reads base C++ .rc script.</a:t>
            </a:r>
            <a:br/>
            <a:br/>
            <a:r>
              <a:t>Extracts translatable label definitions inside STRINGTABLE blocks.</a:t>
            </a:r>
            <a:br/>
            <a:br/>
            <a:r>
              <a:t>Maps indices &amp; skips macro directives.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1645920"/>
            <a:ext cx="1965960" cy="402336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08376" y="1783080"/>
            <a:ext cx="1746504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1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TM CACHE CHECK</a:t>
            </a:r>
          </a:p>
          <a:p>
            <a:pPr>
              <a:lnSpc>
                <a:spcPct val="115000"/>
              </a:lnSpc>
              <a:defRPr sz="850">
                <a:solidFill>
                  <a:srgbClr val="CBD5E1"/>
                </a:solidFill>
                <a:latin typeface="Montserrat"/>
              </a:defRPr>
            </a:pPr>
            <a:r>
              <a:t>Performs sub-millisecond local hash lookups.</a:t>
            </a:r>
            <a:br/>
            <a:br/>
            <a:r>
              <a:t>Matches previously translated and validated strings.</a:t>
            </a:r>
            <a:br/>
            <a:br/>
            <a:r>
              <a:t>Achieves $0 API transaction overhead.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11496" y="1645920"/>
            <a:ext cx="1965960" cy="402336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1224" y="1783080"/>
            <a:ext cx="1746504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1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AI TRANSLATION</a:t>
            </a:r>
          </a:p>
          <a:p>
            <a:pPr>
              <a:lnSpc>
                <a:spcPct val="115000"/>
              </a:lnSpc>
              <a:defRPr sz="850">
                <a:solidFill>
                  <a:srgbClr val="CBD5E1"/>
                </a:solidFill>
                <a:latin typeface="Montserrat"/>
              </a:defRPr>
            </a:pPr>
            <a:r>
              <a:t>Batches cache misses asynchronously to Gemini models.</a:t>
            </a:r>
            <a:br/>
            <a:br/>
            <a:r>
              <a:t>Enforces Autodesk glossaries to resolve CAD terms.</a:t>
            </a:r>
            <a:br/>
            <a:br/>
            <a:r>
              <a:t>Automatically fallbacks on rate-limit timeouts.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24344" y="1645920"/>
            <a:ext cx="1965960" cy="402336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34072" y="1783080"/>
            <a:ext cx="1746504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04</a:t>
            </a:r>
          </a:p>
          <a:p>
            <a:pPr>
              <a:spcAft>
                <a:spcPts val="1200"/>
              </a:spcAft>
              <a:defRPr sz="11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DUAL QA AUDIT</a:t>
            </a:r>
          </a:p>
          <a:p>
            <a:pPr>
              <a:lnSpc>
                <a:spcPct val="115000"/>
              </a:lnSpc>
              <a:defRPr sz="850">
                <a:solidFill>
                  <a:srgbClr val="CBD5E1"/>
                </a:solidFill>
                <a:latin typeface="Montserrat"/>
              </a:defRPr>
            </a:pPr>
            <a:r>
              <a:t>Scans syntax variables locally for compiler safety.</a:t>
            </a:r>
            <a:br/>
            <a:br/>
            <a:r>
              <a:t>Evaluates and scores translation quality (0-100) via Gemini.</a:t>
            </a:r>
            <a:br/>
            <a:br/>
            <a:r>
              <a:t>Flags warning items for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37192" y="1645920"/>
            <a:ext cx="1965960" cy="402336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1783080"/>
            <a:ext cx="1746504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05</a:t>
            </a:r>
          </a:p>
          <a:p>
            <a:pPr>
              <a:spcAft>
                <a:spcPts val="1200"/>
              </a:spcAft>
              <a:defRPr sz="11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SAFE COMPILE</a:t>
            </a:r>
          </a:p>
          <a:p>
            <a:pPr>
              <a:lnSpc>
                <a:spcPct val="115000"/>
              </a:lnSpc>
              <a:defRPr sz="850">
                <a:solidFill>
                  <a:srgbClr val="CBD5E1"/>
                </a:solidFill>
                <a:latin typeface="Montserrat"/>
              </a:defRPr>
            </a:pPr>
            <a:r>
              <a:t>Validates layout spacing in visual preview overlays.</a:t>
            </a:r>
            <a:br/>
            <a:br/>
            <a:r>
              <a:t>Generates localized script via bottom-up injection.</a:t>
            </a:r>
            <a:br/>
            <a:br/>
            <a:r>
              <a:t>Preserves offsets and coordinates.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LIVE SYSTEM WALKTHROUGH &amp; DEMO.MP4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Product Demonstration Video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45720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Video Demonstration Overview</a:t>
            </a:r>
          </a:p>
          <a:p>
            <a:pPr>
              <a:lnSpc>
                <a:spcPct val="130000"/>
              </a:lnSpc>
              <a:spcAft>
                <a:spcPts val="2400"/>
              </a:spcAft>
              <a:defRPr sz="1200">
                <a:solidFill>
                  <a:srgbClr val="94A3B8"/>
                </a:solidFill>
                <a:latin typeface="Montserrat"/>
              </a:defRPr>
            </a:pPr>
            <a:r>
              <a:t>A complete execution cycle is recorded and packaged in the demo media package. Watch the system parse C++ files, translate strings, and validate parameters: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F8FAFC"/>
                </a:solidFill>
                <a:latin typeface="Montserrat"/>
              </a:rPr>
              <a:t>🎥 Video File Name: </a:t>
            </a:r>
            <a:r>
              <a:rPr sz="1100">
                <a:solidFill>
                  <a:srgbClr val="94A3B8"/>
                </a:solidFill>
                <a:latin typeface="Montserrat"/>
              </a:rPr>
              <a:t>Demo.mp4 (located in the project root directory).</a:t>
            </a:r>
            <a:endParaRPr sz="1100">
              <a:solidFill>
                <a:srgbClr val="94A3B8"/>
              </a:solidFill>
              <a:latin typeface="Montserrat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F8FAFC"/>
                </a:solidFill>
                <a:latin typeface="Montserrat"/>
              </a:rPr>
              <a:t>⚡ Key Video Highlights: </a:t>
            </a:r>
            <a:r>
              <a:rPr sz="1100">
                <a:solidFill>
                  <a:srgbClr val="94A3B8"/>
                </a:solidFill>
                <a:latin typeface="Montserrat"/>
              </a:rPr>
              <a:t>Extracting sample.rc, executing cache lookups, checking validation logs, and viewing the live Japanese preview.</a:t>
            </a:r>
            <a:endParaRPr sz="1100">
              <a:solidFill>
                <a:srgbClr val="94A3B8"/>
              </a:solidFill>
              <a:latin typeface="Montserrat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100" b="1">
                <a:solidFill>
                  <a:srgbClr val="F8FAFC"/>
                </a:solidFill>
                <a:latin typeface="Montserrat"/>
              </a:rPr>
              <a:t>🖥️ Playback: </a:t>
            </a:r>
            <a:r>
              <a:rPr sz="1100">
                <a:solidFill>
                  <a:srgbClr val="94A3B8"/>
                </a:solidFill>
                <a:latin typeface="Montserrat"/>
              </a:rPr>
              <a:t>Playable in standard desktop media players during client-facing reviews.</a:t>
            </a:r>
            <a:endParaRPr sz="1100">
              <a:solidFill>
                <a:srgbClr val="94A3B8"/>
              </a:solidFill>
              <a:latin typeface="Montserra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0" y="1645920"/>
            <a:ext cx="5559552" cy="3931920"/>
          </a:xfrm>
          <a:prstGeom prst="rect">
            <a:avLst/>
          </a:prstGeom>
          <a:solidFill>
            <a:srgbClr val="0E142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I_while_saving_the_localized_rc_fi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977976"/>
            <a:ext cx="5468112" cy="326780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89320" y="1977976"/>
            <a:ext cx="5468112" cy="3267807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66175" y="3108960"/>
            <a:ext cx="914400" cy="91440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8631936" y="3429000"/>
            <a:ext cx="274320" cy="274320"/>
          </a:xfrm>
          <a:prstGeom prst="rightArrow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4389120"/>
            <a:ext cx="5559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DEMO VIDEO: DEMO.MP4</a:t>
            </a:r>
          </a:p>
          <a:p>
            <a:pPr algn="ctr">
              <a:defRPr sz="1000">
                <a:solidFill>
                  <a:srgbClr val="3B82F6"/>
                </a:solidFill>
                <a:latin typeface="Montserrat"/>
              </a:defRPr>
            </a:pPr>
            <a:r>
              <a:t>Launch Demo.mp4 from workspace for actual client playback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MODERN DESKTOP &amp; COGNITIVE SERVICE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Technology Stack &amp; Code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Built on Robust Desktop Foundations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100" b="1">
                <a:solidFill>
                  <a:srgbClr val="F8FAFC"/>
                </a:solidFill>
                <a:latin typeface="Montserrat"/>
              </a:rPr>
              <a:t>💻 Framework: </a:t>
            </a:r>
            <a:r>
              <a:rPr sz="1100">
                <a:solidFill>
                  <a:srgbClr val="94A3B8"/>
                </a:solidFill>
                <a:latin typeface="Montserrat"/>
              </a:rPr>
              <a:t>C# .NET 10 &amp; Windows Presentation Foundation (WPF) with modern MVVM design properties.</a:t>
            </a:r>
            <a:endParaRPr sz="1100">
              <a:solidFill>
                <a:srgbClr val="94A3B8"/>
              </a:solidFill>
              <a:latin typeface="Montserrat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100" b="1">
                <a:solidFill>
                  <a:srgbClr val="F8FAFC"/>
                </a:solidFill>
                <a:latin typeface="Montserrat"/>
              </a:rPr>
              <a:t>🧠 AI Platform: </a:t>
            </a:r>
            <a:r>
              <a:rPr sz="1100">
                <a:solidFill>
                  <a:srgbClr val="94A3B8"/>
                </a:solidFill>
                <a:latin typeface="Montserrat"/>
              </a:rPr>
              <a:t>Google Gemini API Integration (gemini-3.5-flash, gemini-2.5-flash, gemini-1.5-flash fallbacks).</a:t>
            </a:r>
            <a:endParaRPr sz="1100">
              <a:solidFill>
                <a:srgbClr val="94A3B8"/>
              </a:solidFill>
              <a:latin typeface="Montserrat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100" b="1">
                <a:solidFill>
                  <a:srgbClr val="F8FAFC"/>
                </a:solidFill>
                <a:latin typeface="Montserrat"/>
              </a:rPr>
              <a:t>📁 Caching: </a:t>
            </a:r>
            <a:r>
              <a:rPr sz="1100">
                <a:solidFill>
                  <a:srgbClr val="94A3B8"/>
                </a:solidFill>
                <a:latin typeface="Montserrat"/>
              </a:rPr>
              <a:t>Local JSON file database holding translation memories and syntax metrics per culture code.</a:t>
            </a:r>
            <a:endParaRPr sz="1100">
              <a:solidFill>
                <a:srgbClr val="94A3B8"/>
              </a:solidFill>
              <a:latin typeface="Montserrat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100" b="1">
                <a:solidFill>
                  <a:srgbClr val="F8FAFC"/>
                </a:solidFill>
                <a:latin typeface="Montserrat"/>
              </a:rPr>
              <a:t>📄 Resource Engine: </a:t>
            </a:r>
            <a:r>
              <a:rPr sz="1100">
                <a:solidFill>
                  <a:srgbClr val="94A3B8"/>
                </a:solidFill>
                <a:latin typeface="Montserrat"/>
              </a:rPr>
              <a:t>Custom C++ Tokenizer Lexer scanning STRINGTABLE segments with index coordinate mapping.</a:t>
            </a:r>
            <a:endParaRPr sz="1100">
              <a:solidFill>
                <a:srgbClr val="94A3B8"/>
              </a:solidFill>
              <a:latin typeface="Montserra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85232" cy="3931920"/>
          </a:xfrm>
          <a:prstGeom prst="roundRect">
            <a:avLst/>
          </a:prstGeom>
          <a:solidFill>
            <a:srgbClr val="111A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919472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  <a:defRPr sz="13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SYSTEM LOGICAL DATA PIPELINE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F8FAFC"/>
                </a:solidFill>
                <a:latin typeface="Montserrat"/>
              </a:rPr>
              <a:t>1. RcParserService: </a:t>
            </a:r>
            <a:r>
              <a:rPr sz="1050">
                <a:solidFill>
                  <a:srgbClr val="94A3B8"/>
                </a:solidFill>
                <a:latin typeface="Montserrat"/>
              </a:rPr>
              <a:t>Scans raw files using token matching loops to identify start/end coordinates of translatable text.</a:t>
            </a:r>
            <a:endParaRPr sz="1050">
              <a:solidFill>
                <a:srgbClr val="94A3B8"/>
              </a:solidFill>
              <a:latin typeface="Montserrat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F8FAFC"/>
                </a:solidFill>
                <a:latin typeface="Montserrat"/>
              </a:rPr>
              <a:t>2. TranslationMemory: </a:t>
            </a:r>
            <a:r>
              <a:rPr sz="1050">
                <a:solidFill>
                  <a:srgbClr val="94A3B8"/>
                </a:solidFill>
                <a:latin typeface="Montserrat"/>
              </a:rPr>
              <a:t>Resolves text hash matches, fetching cached C# validation values before invoking network handlers.</a:t>
            </a:r>
            <a:endParaRPr sz="1050">
              <a:solidFill>
                <a:srgbClr val="94A3B8"/>
              </a:solidFill>
              <a:latin typeface="Montserrat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F8FAFC"/>
                </a:solidFill>
                <a:latin typeface="Montserrat"/>
              </a:rPr>
              <a:t>3. GeminiService REST Client: </a:t>
            </a:r>
            <a:r>
              <a:rPr sz="1050">
                <a:solidFill>
                  <a:srgbClr val="94A3B8"/>
                </a:solidFill>
                <a:latin typeface="Montserrat"/>
              </a:rPr>
              <a:t>Submits payloads containing specialized system instructions and fallbacks to flash models on failure.</a:t>
            </a:r>
            <a:endParaRPr sz="1050">
              <a:solidFill>
                <a:srgbClr val="94A3B8"/>
              </a:solidFill>
              <a:latin typeface="Montserrat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F8FAFC"/>
                </a:solidFill>
                <a:latin typeface="Montserrat"/>
              </a:rPr>
              <a:t>4. ValidationService QA: </a:t>
            </a:r>
            <a:r>
              <a:rPr sz="1050">
                <a:solidFill>
                  <a:srgbClr val="94A3B8"/>
                </a:solidFill>
                <a:latin typeface="Montserrat"/>
              </a:rPr>
              <a:t>Matches format flags, counting escape codes. Updates local scores and caches validation logs.</a:t>
            </a:r>
            <a:endParaRPr sz="1050">
              <a:solidFill>
                <a:srgbClr val="94A3B8"/>
              </a:solidFill>
              <a:latin typeface="Montserrat"/>
            </a:endParaRP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050" b="1">
                <a:solidFill>
                  <a:srgbClr val="F8FAFC"/>
                </a:solidFill>
                <a:latin typeface="Montserrat"/>
              </a:rPr>
              <a:t>5. RcGeneratorService: </a:t>
            </a:r>
            <a:r>
              <a:rPr sz="1050">
                <a:solidFill>
                  <a:srgbClr val="94A3B8"/>
                </a:solidFill>
                <a:latin typeface="Montserrat"/>
              </a:rPr>
              <a:t>Sorts modified indices in descending order, replacing strings from bottom to top to preserve offsets.</a:t>
            </a:r>
            <a:endParaRPr sz="1050">
              <a:solidFill>
                <a:srgbClr val="94A3B8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WORKSPACE ORGANIZATION &amp; CLEAN DIRECTORY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Modular System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Workspace Directory Tree</a:t>
            </a:r>
          </a:p>
          <a:p>
            <a:pPr>
              <a:lnSpc>
                <a:spcPct val="115000"/>
              </a:lnSpc>
              <a:defRPr sz="1050">
                <a:solidFill>
                  <a:srgbClr val="CBD5E1"/>
                </a:solidFill>
                <a:latin typeface="Consolas" panose="020B0609020204030204"/>
              </a:defRPr>
            </a:pPr>
            <a:r>
              <a:t>Localizer_App/</a:t>
            </a:r>
            <a:br/>
            <a:r>
              <a:t>├── Models/</a:t>
            </a:r>
            <a:br/>
            <a:r>
              <a:t>│   └── Models.cs                  &lt;-- Data transfer models &amp; constants</a:t>
            </a:r>
            <a:br/>
            <a:r>
              <a:t>├── Services/</a:t>
            </a:r>
            <a:br/>
            <a:r>
              <a:t>│   ├── AiService.cs               &lt;-- Gemini API, translator &amp; AI Validation</a:t>
            </a:r>
            <a:br/>
            <a:r>
              <a:t>│   ├── RcParserService.cs         &lt;-- C++ Resource tokenizer parser</a:t>
            </a:r>
            <a:br/>
            <a:r>
              <a:t>│   ├── RcGeneratorService.cs      &lt;-- Bottom-up coordinate safe rebuilder</a:t>
            </a:r>
            <a:br/>
            <a:r>
              <a:t>│   ├── TranslationMemoryService.cs &lt;-- Local JSON caches per language</a:t>
            </a:r>
            <a:br/>
            <a:r>
              <a:t>│   └── ValidationService.cs       &lt;-- Syntax placeholder checks</a:t>
            </a:r>
            <a:br/>
            <a:r>
              <a:t>├── Views/</a:t>
            </a:r>
            <a:br/>
            <a:r>
              <a:t>│   ├── MainWindow.xaml/cs         &lt;-- Main editor controller</a:t>
            </a:r>
            <a:br/>
            <a:r>
              <a:t>│   └── PreviewWindow.xaml/cs      &lt;-- Live UI dialog simulation mockup</a:t>
            </a:r>
            <a:br/>
            <a:r>
              <a:t>└── Resources/</a:t>
            </a:r>
            <a:br/>
            <a:r>
              <a:t>    ├── en-US.rc / ui_strings.rc   &lt;-- Base UI layouts resource script</a:t>
            </a:r>
            <a:br/>
            <a:r>
              <a:t>    └── TranslationMemory/         &lt;-- Local cache database storage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85232" cy="393192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783080"/>
            <a:ext cx="5010912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High-Cohesion Architecture Overview</a:t>
            </a:r>
          </a:p>
          <a:p>
            <a:pPr>
              <a:lnSpc>
                <a:spcPct val="115000"/>
              </a:lnSpc>
              <a:defRPr sz="950">
                <a:solidFill>
                  <a:srgbClr val="CBD5E1"/>
                </a:solidFill>
                <a:latin typeface="Montserrat"/>
              </a:defRPr>
            </a:pPr>
            <a:r>
              <a:t>The application organizes logic into clear layers to ensure code review readiness:</a:t>
            </a:r>
            <a:br/>
            <a:br/>
            <a:r>
              <a:t>• Low Code Complexity: Methods are designed to be under 10 lines of code, prioritizing event-driven triggers inside views.</a:t>
            </a:r>
            <a:br/>
            <a:br/>
            <a:r>
              <a:t>• Data Model Integrity: Models.cs consolidates models (ResourceString, TargetLanguage, ValidationResult) under one namespace, avoiding scattered class files.</a:t>
            </a:r>
            <a:br/>
            <a:br/>
            <a:r>
              <a:t>• Dynamic Dropdown System: PreviewWindow parses files inside the Resources/ folder dynamically, eliminating hardcoded languages list and keeping preview logic purely file-driven.</a:t>
            </a:r>
            <a:br/>
            <a:br/>
            <a:r>
              <a:t>• Secure Storage Boundaries: Config details are isolated in AppData config.env files rather than standard App.config, safeguarding API credentials.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MEASURABLE OPERATIONAL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ROI &amp; Business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2542032" cy="36576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2267712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5400" b="1">
                <a:solidFill>
                  <a:srgbClr val="2563EB"/>
                </a:solidFill>
                <a:latin typeface="Century Gothic" panose="020B0502020202020204"/>
              </a:defRPr>
            </a:pPr>
            <a:r>
              <a:t>3.0x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Faster Turnaround</a:t>
            </a:r>
          </a:p>
          <a:p>
            <a:pPr>
              <a:lnSpc>
                <a:spcPct val="120000"/>
              </a:lnSpc>
              <a:defRPr sz="1000">
                <a:solidFill>
                  <a:srgbClr val="94A3B8"/>
                </a:solidFill>
                <a:latin typeface="Montserrat"/>
              </a:defRPr>
            </a:pPr>
            <a:r>
              <a:t>Localization reviews shrink from weeks to minutes. Eliminates pipeline friction between engineers and agencies.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2011680"/>
            <a:ext cx="2542032" cy="36576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2148840"/>
            <a:ext cx="2267712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5400" b="1">
                <a:solidFill>
                  <a:srgbClr val="10B981"/>
                </a:solidFill>
                <a:latin typeface="Century Gothic" panose="020B0502020202020204"/>
              </a:defRPr>
            </a:pPr>
            <a:r>
              <a:t>90%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Cost Reduction</a:t>
            </a:r>
          </a:p>
          <a:p>
            <a:pPr>
              <a:lnSpc>
                <a:spcPct val="120000"/>
              </a:lnSpc>
              <a:defRPr sz="1000">
                <a:solidFill>
                  <a:srgbClr val="94A3B8"/>
                </a:solidFill>
                <a:latin typeface="Montserrat"/>
              </a:defRPr>
            </a:pPr>
            <a:r>
              <a:t>Sub-millisecond local caching limits Gemini API calls exclusively to changed text keys, saving translation budgets.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2011680"/>
            <a:ext cx="2542032" cy="36576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2148840"/>
            <a:ext cx="2267712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54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100%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CAD Accuracy</a:t>
            </a:r>
          </a:p>
          <a:p>
            <a:pPr>
              <a:lnSpc>
                <a:spcPct val="120000"/>
              </a:lnSpc>
              <a:defRPr sz="1000">
                <a:solidFill>
                  <a:srgbClr val="94A3B8"/>
                </a:solidFill>
                <a:latin typeface="Montserrat"/>
              </a:defRPr>
            </a:pPr>
            <a:r>
              <a:t>Tailored system instructions enforce strict technical glossary standards for design tools, preventing generic translations.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0264" y="2011680"/>
            <a:ext cx="2542032" cy="365760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424" y="2148840"/>
            <a:ext cx="2267712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5400" b="1">
                <a:solidFill>
                  <a:srgbClr val="10B981"/>
                </a:solidFill>
                <a:latin typeface="Century Gothic" panose="020B0502020202020204"/>
              </a:defRPr>
            </a:pPr>
            <a:r>
              <a:t>0%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Syntax Crashes</a:t>
            </a:r>
          </a:p>
          <a:p>
            <a:pPr>
              <a:lnSpc>
                <a:spcPct val="120000"/>
              </a:lnSpc>
              <a:defRPr sz="1000">
                <a:solidFill>
                  <a:srgbClr val="94A3B8"/>
                </a:solidFill>
                <a:latin typeface="Montserrat"/>
              </a:defRPr>
            </a:pPr>
            <a:r>
              <a:t>Local validators scan placeholder counts and escape parameters, preventing C++ runtime crashes before compiling.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PRODUCT EXPANSION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Future Roadmap &amp; Action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Scaling to Enterprise-Grade Pipelines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 b="1">
                <a:solidFill>
                  <a:srgbClr val="F8FAFC"/>
                </a:solidFill>
                <a:latin typeface="Montserrat"/>
              </a:rPr>
              <a:t>1. CLI &amp; Build Script Integration: </a:t>
            </a:r>
            <a:r>
              <a:rPr sz="1200">
                <a:solidFill>
                  <a:srgbClr val="94A3B8"/>
                </a:solidFill>
                <a:latin typeface="Montserrat"/>
              </a:rPr>
              <a:t>Inject automated translation validation checks directly into CI/CD compiler pipelines on code commit.</a:t>
            </a:r>
            <a:endParaRPr sz="1200">
              <a:solidFill>
                <a:srgbClr val="94A3B8"/>
              </a:solidFill>
              <a:latin typeface="Montserrat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 b="1">
                <a:solidFill>
                  <a:srgbClr val="F8FAFC"/>
                </a:solidFill>
                <a:latin typeface="Montserrat"/>
              </a:rPr>
              <a:t>2. Dynamic Layout Adjustments: </a:t>
            </a:r>
            <a:r>
              <a:rPr sz="1200">
                <a:solidFill>
                  <a:srgbClr val="94A3B8"/>
                </a:solidFill>
                <a:latin typeface="Montserrat"/>
              </a:rPr>
              <a:t>Utilize parser data to recommend panel layout dimension updates for verbose translations in CAD properties docks.</a:t>
            </a:r>
            <a:endParaRPr sz="1200">
              <a:solidFill>
                <a:srgbClr val="94A3B8"/>
              </a:solidFill>
              <a:latin typeface="Montserrat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 b="1">
                <a:solidFill>
                  <a:srgbClr val="F8FAFC"/>
                </a:solidFill>
                <a:latin typeface="Montserrat"/>
              </a:rPr>
              <a:t>3. Centralized Cloud TM Syncing: </a:t>
            </a:r>
            <a:r>
              <a:rPr sz="1200">
                <a:solidFill>
                  <a:srgbClr val="94A3B8"/>
                </a:solidFill>
                <a:latin typeface="Montserrat"/>
              </a:rPr>
              <a:t>Synchronize local JSON caches with central database repositories to share terminology overrides across global teams.</a:t>
            </a:r>
            <a:endParaRPr sz="1200">
              <a:solidFill>
                <a:srgbClr val="94A3B8"/>
              </a:solidFill>
              <a:latin typeface="Montserrat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200" b="1">
                <a:solidFill>
                  <a:srgbClr val="F8FAFC"/>
                </a:solidFill>
                <a:latin typeface="Montserrat"/>
              </a:rPr>
              <a:t>4. Expanded Localization Types: </a:t>
            </a:r>
            <a:r>
              <a:rPr sz="1200">
                <a:solidFill>
                  <a:srgbClr val="94A3B8"/>
                </a:solidFill>
                <a:latin typeface="Montserrat"/>
              </a:rPr>
              <a:t>Extend parser scanning logic to support XML, JSON, and standard C# resx resources, centralizing global UI tasks.</a:t>
            </a:r>
            <a:endParaRPr sz="1200">
              <a:solidFill>
                <a:srgbClr val="94A3B8"/>
              </a:solidFill>
              <a:latin typeface="Montserra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675120" y="1645920"/>
            <a:ext cx="4828032" cy="3931920"/>
          </a:xfrm>
          <a:prstGeom prst="roundRect">
            <a:avLst/>
          </a:prstGeom>
          <a:solidFill>
            <a:srgbClr val="111A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783080"/>
            <a:ext cx="4553712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Enterprise Readiness Conclusion</a:t>
            </a:r>
          </a:p>
          <a:p>
            <a:pPr>
              <a:lnSpc>
                <a:spcPct val="115000"/>
              </a:lnSpc>
              <a:defRPr sz="950">
                <a:solidFill>
                  <a:srgbClr val="CBD5E1"/>
                </a:solidFill>
                <a:latin typeface="Montserrat"/>
              </a:defRPr>
            </a:pPr>
            <a:r>
              <a:t>Localizer App resolves the structural, layout, and terminology failures of software localization workflows.</a:t>
            </a:r>
            <a:br/>
            <a:br/>
            <a:r>
              <a:t>By automating parsing, integrating local cache memories, and embedding simulative CAD mockups, we empower development teams to translate and validate resources locally, efficiently, and safely.</a:t>
            </a:r>
            <a:br/>
            <a:br/>
            <a:r>
              <a:t>The proof-of-concept is built, validated, and ready for integration. Let's schedule a hands-on session to review deployment into your active build pipelines.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0"/>
            <a:ext cx="10817352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B82F6"/>
                </a:solidFill>
                <a:latin typeface="Century Gothic" panose="020B0502020202020204"/>
              </a:defRPr>
            </a:pPr>
            <a:r>
              <a:t>SESSION CONCLUSION</a:t>
            </a:r>
          </a:p>
          <a:p>
            <a:pPr>
              <a:spcAft>
                <a:spcPts val="1200"/>
              </a:spcAft>
              <a:defRPr sz="6400" b="1">
                <a:solidFill>
                  <a:srgbClr val="F8FAFC"/>
                </a:solidFill>
                <a:latin typeface="Century Gothic" panose="020B0502020202020204"/>
              </a:defRPr>
            </a:pPr>
            <a:r>
              <a:t>Thank You</a:t>
            </a:r>
          </a:p>
          <a:p>
            <a:pPr>
              <a:spcAft>
                <a:spcPts val="4500"/>
              </a:spcAft>
              <a:defRPr sz="2000">
                <a:solidFill>
                  <a:srgbClr val="94A3B8"/>
                </a:solidFill>
                <a:latin typeface="Century Gothic" panose="020B0502020202020204"/>
              </a:defRPr>
            </a:pPr>
            <a:r>
              <a:t>Questions &amp; Answers  |  Product Feedback Session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  <a:latin typeface="Montserrat"/>
              </a:defRPr>
            </a:pPr>
            <a:r>
              <a:t>For architectural walkthrough and code details, refer to:</a:t>
            </a:r>
          </a:p>
          <a:p>
            <a:pPr>
              <a:defRPr sz="1100">
                <a:solidFill>
                  <a:srgbClr val="3B82F6"/>
                </a:solidFill>
                <a:latin typeface="Montserrat"/>
              </a:defRPr>
            </a:pPr>
            <a:r>
              <a:t>• Developer Architecture Guide: RcLocalizer_Guide.md  |  • Concepts Index: RcLocalizer_Concepts.md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12919</Words>
  <Application>WPS Presentation</Application>
  <PresentationFormat>On-screen Show (4:3)</PresentationFormat>
  <Paragraphs>228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Arial</vt:lpstr>
      <vt:lpstr>Century Gothic</vt:lpstr>
      <vt:lpstr>Montserrat</vt:lpstr>
      <vt:lpstr>Segoe Print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sarth</cp:lastModifiedBy>
  <cp:revision>2</cp:revision>
  <dcterms:created xsi:type="dcterms:W3CDTF">2013-01-27T09:14:00Z</dcterms:created>
  <dcterms:modified xsi:type="dcterms:W3CDTF">2026-06-20T19:43:24Z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C2CBB1C265E7431085BDE22F68C18980_12</vt:lpwstr>
  </property>
</Properties>
</file>