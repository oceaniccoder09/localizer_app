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2011680"/>
            <a:ext cx="10817352" cy="2649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CCTECH INTERNSHIP CAPSTONE PROJECT</a:t>
            </a:r>
          </a:p>
          <a:p>
            <a:pPr>
              <a:spcAft>
                <a:spcPts val="800"/>
              </a:spcAft>
              <a:defRPr sz="6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Localizer App</a:t>
            </a:r>
          </a:p>
          <a:p>
            <a:pPr>
              <a:spcAft>
                <a:spcPts val="4500"/>
              </a:spcAft>
              <a:defRPr sz="2000">
                <a:solidFill>
                  <a:srgbClr val="94A3B8"/>
                </a:solidFill>
                <a:latin typeface="Century Gothic" panose="020B0502020202020204"/>
              </a:defRPr>
            </a:pPr>
            <a:r>
              <a:t>AI-Powered Software Localization Engine for Enterprise CAD/BIM Applications</a:t>
            </a:r>
          </a:p>
          <a:p>
            <a:pPr>
              <a:defRPr sz="1200" b="1">
                <a:solidFill>
                  <a:srgbClr val="F8FAFC"/>
                </a:solidFill>
                <a:latin typeface="Segoe UI" panose="020B0502040204020203"/>
              </a:defRPr>
            </a:pPr>
            <a:r>
              <a:t>Developed by </a:t>
            </a:r>
            <a:r>
              <a:rPr lang="en-IN"/>
              <a:t> Sarthak Mahadik </a:t>
            </a:r>
            <a:r>
              <a:rPr lang="en-IN">
                <a:sym typeface="+mn-ea"/>
              </a:rPr>
              <a:t> And Ganesh Chavan</a:t>
            </a:r>
          </a:p>
          <a:p>
            <a:pPr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t>Project Mentor: CCTech &amp; Autodesk Stakeholders  |  Date: June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MARKET CONTEXT &amp; INEFFICIENCIES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1800">
                <a:solidFill>
                  <a:srgbClr val="F8FAFC"/>
                </a:solidFill>
                <a:latin typeface="Century Gothic" panose="020B0502020202020204"/>
              </a:defRPr>
            </a:pPr>
            <a:r>
              <a:t>Software localization in CAD/BIM engineering fields faces strict layout rules and domain vocabulary gaps: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00" b="1">
                <a:solidFill>
                  <a:srgbClr val="F8FAFC"/>
                </a:solidFill>
                <a:latin typeface="Segoe UI" panose="020B0502040204020203"/>
              </a:rPr>
              <a:t>⏱️ Slow Time-to-Market: </a:t>
            </a:r>
            <a:r>
              <a:rPr sz="1300">
                <a:solidFill>
                  <a:srgbClr val="94A3B8"/>
                </a:solidFill>
                <a:latin typeface="Segoe UI" panose="020B0502040204020203"/>
              </a:rPr>
              <a:t>Manual translation script reviews take days or weeks for minor UI revisions.</a:t>
            </a:r>
            <a:endParaRPr sz="13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00" b="1">
                <a:solidFill>
                  <a:srgbClr val="F8FAFC"/>
                </a:solidFill>
                <a:latin typeface="Segoe UI" panose="020B0502040204020203"/>
              </a:rPr>
              <a:t>🔤 Technical Vocab Gaps: </a:t>
            </a:r>
            <a:r>
              <a:rPr sz="1300">
                <a:solidFill>
                  <a:srgbClr val="94A3B8"/>
                </a:solidFill>
                <a:latin typeface="Segoe UI" panose="020B0502040204020203"/>
              </a:rPr>
              <a:t>Generic translation tools lack context, translating specialized words literally (e.g. 'Draft', 'Viewport').</a:t>
            </a:r>
            <a:endParaRPr sz="13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00" b="1">
                <a:solidFill>
                  <a:srgbClr val="F8FAFC"/>
                </a:solidFill>
                <a:latin typeface="Segoe UI" panose="020B0502040204020203"/>
              </a:rPr>
              <a:t>🔄 Redundant Translation Expenses: </a:t>
            </a:r>
            <a:r>
              <a:rPr sz="1300">
                <a:solidFill>
                  <a:srgbClr val="94A3B8"/>
                </a:solidFill>
                <a:latin typeface="Segoe UI" panose="020B0502040204020203"/>
              </a:rPr>
              <a:t>Re-translating unchanged files incurs constant operational costs and API queries.</a:t>
            </a:r>
            <a:endParaRPr sz="13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00" b="1">
                <a:solidFill>
                  <a:srgbClr val="F8FAFC"/>
                </a:solidFill>
                <a:latin typeface="Segoe UI" panose="020B0502040204020203"/>
              </a:rPr>
              <a:t>💥 Unvalidated Code Failures: </a:t>
            </a:r>
            <a:r>
              <a:rPr sz="1300">
                <a:solidFill>
                  <a:srgbClr val="94A3B8"/>
                </a:solidFill>
                <a:latin typeface="Segoe UI" panose="020B0502040204020203"/>
              </a:rPr>
              <a:t>Altered string tokens disrupt C++ formatting guides, leading to immediate system crashes.</a:t>
            </a:r>
            <a:endParaRPr sz="130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87952" cy="2011680"/>
          </a:xfrm>
          <a:prstGeom prst="roundRect">
            <a:avLst/>
          </a:prstGeom>
          <a:solidFill>
            <a:srgbClr val="111A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38221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EF4444"/>
                </a:solidFill>
                <a:latin typeface="Century Gothic" panose="020B0502020202020204"/>
              </a:defRPr>
            </a:pPr>
            <a:r>
              <a:t>85%</a:t>
            </a:r>
          </a:p>
          <a:p>
            <a:pPr>
              <a:defRPr sz="1200">
                <a:solidFill>
                  <a:srgbClr val="94A3B8"/>
                </a:solidFill>
                <a:latin typeface="Segoe UI" panose="020B0502040204020203"/>
              </a:defRPr>
            </a:pPr>
            <a:r>
              <a:t>Linguistic cycle delay in standard releases due to manual C++ resource checking.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931920"/>
            <a:ext cx="4187952" cy="2011680"/>
          </a:xfrm>
          <a:prstGeom prst="roundRect">
            <a:avLst/>
          </a:prstGeom>
          <a:solidFill>
            <a:srgbClr val="111A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4114800"/>
            <a:ext cx="38221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EF4444"/>
                </a:solidFill>
                <a:latin typeface="Century Gothic" panose="020B0502020202020204"/>
              </a:defRPr>
            </a:pPr>
            <a:r>
              <a:t>$10k+</a:t>
            </a:r>
          </a:p>
          <a:p>
            <a:pPr>
              <a:defRPr sz="1200">
                <a:solidFill>
                  <a:srgbClr val="94A3B8"/>
                </a:solidFill>
                <a:latin typeface="Segoe UI" panose="020B0502040204020203"/>
              </a:defRPr>
            </a:pPr>
            <a:r>
              <a:t>Average localized translation agency and pipeline setup cost per major release.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DIRECT BUSINESS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The Solution: Localizer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Automated, AI-Assisted CAD Localization Studio</a:t>
            </a:r>
          </a:p>
          <a:p>
            <a:pPr>
              <a:lnSpc>
                <a:spcPct val="130000"/>
              </a:lnSpc>
              <a:spcAft>
                <a:spcPts val="2400"/>
              </a:spcAft>
              <a:defRPr sz="1300">
                <a:solidFill>
                  <a:srgbClr val="CBD5E1"/>
                </a:solidFill>
                <a:latin typeface="Segoe UI" panose="020B0502040204020203"/>
              </a:defRPr>
            </a:pPr>
            <a:r>
              <a:t>Localizer App bridges resource lexer tokenizers with Google Gemini AI. The tool delivers a streamlined, desktop-integrated translation workspace: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📦 Automated Extraction: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Reads C++ .rc files directly, targetting string tables while ignoring macros/comments.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⚡ Sub-ms Local Caching: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Translation Memory holds previous translations and validations to prevent API costs.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🛡️ Double-Layer Guard: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Validates syntax placeholders locally + executes Gemini AI QA evaluations.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🖥️ Simulative Workspace Dialogs: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Overlays edits in real-time on a virtual UI mockup, verifying spacing before export.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1725678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1789686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1789686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1789686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 mainu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45134"/>
            <a:ext cx="5285232" cy="35529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725678"/>
            <a:ext cx="5285232" cy="3772402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543801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 panose="020B0502040204020203"/>
              </a:defRPr>
            </a:pPr>
            <a:r>
              <a:t>Figure: Main Application Grid showing loaded workspace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ENGINEERED FOR PRODUCT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Key Features &amp;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🔍 RC File Parsing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Scans C++ Resource Scripts natively. Identifies translatable strings inside STRINGTABLE blocks while preserving coordinate offsets.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783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🧠 AI Translation Workflow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Translates string batches using Gemini model fallback logic, selecting optimal words using specialized CAD/BIM terminology lists.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645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83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⚡ Translation Memory Cache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Saves translations, QA scores, and feedbacks. Bypasses Gemini API calls for identical source keys, cutting costs to $0.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31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🛡️ Glossary Validation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Enforces formatting checks (escapes and parameters) to prevent crashes, combined with Gemini linguistic quality evaluations.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4069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🖥️ Simulative Preview Window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Mockup workspace displaying menu ribbons and properties panels, dynamically populated to verify text overflows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3931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069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📁 Safe Localized Export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Generates C++ resource script files in-place using back-to-front replacement, keeping layout coordinate files perfectly intact.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INTERACTIVE STRING GRID &amp; TRANSLATION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Active Translation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Visual Grid Editor with Manual Override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300">
                <a:solidFill>
                  <a:srgbClr val="CBD5E1"/>
                </a:solidFill>
                <a:latin typeface="Segoe UI" panose="020B0502040204020203"/>
              </a:defRPr>
            </a:pPr>
            <a:r>
              <a:t>The system loads extracted strings directly into an in-memory editor grid. Translators can perform direct, key-by-key editing and trigger batch automation: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✍️ Inline Manual Editing: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Double-click any translation cell to override values manually.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⚡ Batch Translation: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Sends missing keys to Google Gemini in parallel threads to maximize throughput.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📊 Cache Hit Tracking: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Monitors hits and misses in real-time, computing active cache percentage ratios in the header stats bar.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1725678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1789686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1789686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1789686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After_Translating_rc_str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45134"/>
            <a:ext cx="5285232" cy="35529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725678"/>
            <a:ext cx="5285232" cy="3772402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543801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 panose="020B0502040204020203"/>
              </a:defRPr>
            </a:pPr>
            <a:r>
              <a:t>WPF Workspace: Main translation editor grid after running AI batch translation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HYBRID LOCAL &amp; AI-POWERED QA 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Quality Validation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Unified QA Panel &amp; Diagnostics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300">
                <a:solidFill>
                  <a:srgbClr val="CBD5E1"/>
                </a:solidFill>
                <a:latin typeface="Segoe UI" panose="020B0502040204020203"/>
              </a:defRPr>
            </a:pPr>
            <a:r>
              <a:t>Clicking 'Validate' runs double-layer diagnostic checks. The Validation Panel slides open on the right side of the main workspace: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✔️ Local Placeholder Verifiers: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Scans parameter counts (%s, %d, {0}) to guarantee C++ compiler safety.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🧠 Gemini AI Quality Rating: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Evaluates context, scoring translations from 0 to 100, and categorizes into Excellent, Good, or Review tags.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📝 Actionable QA Feedback: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Logs clear error descriptions and improvement recommendations inside the grid feedback cells.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2038926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2102934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2102934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2102934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after_validating_str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58382"/>
            <a:ext cx="5285232" cy="29264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2038926"/>
            <a:ext cx="5285232" cy="3145906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230553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 panose="020B0502040204020203"/>
              </a:defRPr>
            </a:pPr>
            <a:r>
              <a:t>Linguistic Quality Audit: Side-by-side validation panels displaying local syntax checks and AI QA scorecards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PILLARS OF THE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The Three-Tier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28416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96265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📂 INGESTION &amp; PARSING</a:t>
            </a:r>
          </a:p>
          <a:p>
            <a:pPr>
              <a:spcAft>
                <a:spcPts val="1500"/>
              </a:spcAft>
              <a:defRPr sz="1050" b="1">
                <a:solidFill>
                  <a:srgbClr val="94A3B8"/>
                </a:solidFill>
                <a:latin typeface="Century Gothic" panose="020B0502020202020204"/>
              </a:defRPr>
            </a:pPr>
            <a:r>
              <a:t>Pillar 1: File Processing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Segoe UI" panose="020B0502040204020203"/>
              </a:defRPr>
            </a:pPr>
            <a:r>
              <a:t>• Natively loads Windows C++ resource scripts (.rc).</a:t>
            </a:r>
            <a:br/>
            <a:br/>
            <a:r>
              <a:t>• Runs a custom lexical tokenizer to isolate translatable labels strictly inside STRINGTABLE blocks.</a:t>
            </a:r>
            <a:br/>
            <a:br/>
            <a:r>
              <a:t>• Records character offsets (start and end index offsets) for every string literal, skipping comments and macros.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⚙️ COGNITIVE AI PIPELINE</a:t>
            </a:r>
          </a:p>
          <a:p>
            <a:pPr>
              <a:spcAft>
                <a:spcPts val="1500"/>
              </a:spcAft>
              <a:defRPr sz="1050" b="1">
                <a:solidFill>
                  <a:srgbClr val="94A3B8"/>
                </a:solidFill>
                <a:latin typeface="Century Gothic" panose="020B0502020202020204"/>
              </a:defRPr>
            </a:pPr>
            <a:r>
              <a:t>Pillar 2: Cache &amp; Translation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Segoe UI" panose="020B0502040204020203"/>
              </a:defRPr>
            </a:pPr>
            <a:r>
              <a:t>• Executes translation memory lookups, loading cached items and QA stats locally in sub-milliseconds.</a:t>
            </a:r>
            <a:br/>
            <a:br/>
            <a:r>
              <a:t>• Batches cache misses and queries the Gemini API under specialized CAD terminology prompts.</a:t>
            </a:r>
            <a:br/>
            <a:br/>
            <a:r>
              <a:t>• Automatically executes model fallback routes (3.5-flash -&gt; 2.5-flash -&gt; 1.5-flash) to avoid API timeout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645920"/>
            <a:ext cx="3328416" cy="41148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96265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📁 VALIDATION &amp; COMPILATION</a:t>
            </a:r>
          </a:p>
          <a:p>
            <a:pPr>
              <a:spcAft>
                <a:spcPts val="1500"/>
              </a:spcAft>
              <a:defRPr sz="1050" b="1">
                <a:solidFill>
                  <a:srgbClr val="94A3B8"/>
                </a:solidFill>
                <a:latin typeface="Century Gothic" panose="020B0502020202020204"/>
              </a:defRPr>
            </a:pPr>
            <a:r>
              <a:t>Pillar 3: Quality &amp; Rebuild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  <a:latin typeface="Segoe UI" panose="020B0502040204020203"/>
              </a:defRPr>
            </a:pPr>
            <a:r>
              <a:t>• Performs dual-layer validation checking parameter matches and escape code formatting.</a:t>
            </a:r>
            <a:br/>
            <a:br/>
            <a:r>
              <a:t>• Overlays translations on Writable mockups to review text scaling before saving.</a:t>
            </a:r>
            <a:br/>
            <a:br/>
            <a:r>
              <a:t>• Rebuilds resources in-place using bottom-up code writing, avoiding coordinate shift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REAL-TIME VISUAL LAYOUT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WPF Dialog Simulation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49960"/>
            <a:ext cx="5120640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13968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" y="2013968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013968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view_UI_IN_Englis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69416"/>
            <a:ext cx="5120640" cy="28300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949960"/>
            <a:ext cx="5120640" cy="3049519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4519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 panose="020B0502040204020203"/>
              </a:defRPr>
            </a:pPr>
            <a:r>
              <a:t>Standard English UI Dialog Mockup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2512" y="1952619"/>
            <a:ext cx="5120640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2016627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01968" y="2016627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9984" y="2016627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eview_Ui_In_Japane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172075"/>
            <a:ext cx="5120640" cy="282474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82512" y="1952619"/>
            <a:ext cx="5120640" cy="3044201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0425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 panose="020B0502040204020203"/>
              </a:defRPr>
            </a:pPr>
            <a:r>
              <a:t>Japanese Localized UI Dialog Mockup Overlay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t>Linguistic validation is overlaid in-memory. Designers can instantly review if a translated string overflows menu borders or overlaps labels before generating compiled binary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REVERSE INDEX-SAFE SEGMENT REPLACEMENTS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Coordinate-Safe Rebuilder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Bottom-Up String Injector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300">
                <a:solidFill>
                  <a:srgbClr val="CBD5E1"/>
                </a:solidFill>
                <a:latin typeface="Segoe UI" panose="020B0502040204020203"/>
              </a:defRPr>
            </a:pPr>
            <a:r>
              <a:t>Modifying C++ resource scripts (.rc) can corrupt character coordinate layouts if segment lengths alter. The generator implements a bottom-up parsing replace loop: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🔄 Descending Replace Loop: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Sorts translatable strings in descending order based on their character offsets before inserting translations.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🔒 Spacing &amp; Comment Preservation: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Only modifies targeted string literals, keeping preceding spacing, includes, and headers intact.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📝 Proper Escaping Rules: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Automatically doubles nested quotes inside string segments to adhere strictly to C++ compiler standards.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2032621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2096629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2096629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2096629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while_saving_the_localized_rc_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52077"/>
            <a:ext cx="5285232" cy="29390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2032621"/>
            <a:ext cx="5285232" cy="3158516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236858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Segoe UI" panose="020B0502040204020203"/>
              </a:defRPr>
            </a:pPr>
            <a:r>
              <a:t>File Generation: Saving the compiled localized resource script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LIVE SYSTEM WALKTHROUGH &amp; DEMO.MP4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Product Demonstration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Video Demonstration Overview</a:t>
            </a:r>
          </a:p>
          <a:p>
            <a:pPr>
              <a:lnSpc>
                <a:spcPct val="130000"/>
              </a:lnSpc>
              <a:spcAft>
                <a:spcPts val="2400"/>
              </a:spcAft>
              <a:defRPr sz="1300">
                <a:solidFill>
                  <a:srgbClr val="94A3B8"/>
                </a:solidFill>
                <a:latin typeface="Segoe UI" panose="020B0502040204020203"/>
              </a:defRPr>
            </a:pPr>
            <a:r>
              <a:t>A complete execution cycle is recorded and packaged in the demo media package. Watch the system parse C++ files, translate strings, and validate parameters: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🎥 Video File Name: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Demo.mp4 (located in the project root directory).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⚡ Key Video Highlights: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Extracting sample.rc, executing cache lookups, checking validation logs, and viewing the live Japanese preview.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🖥️ Playback: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Playable in standard desktop media players during client-facing reviews.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559552" cy="3931920"/>
          </a:xfrm>
          <a:prstGeom prst="rect">
            <a:avLst/>
          </a:prstGeom>
          <a:solidFill>
            <a:srgbClr val="0E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while_saving_the_localized_rc_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77976"/>
            <a:ext cx="5468112" cy="32678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89320" y="1977976"/>
            <a:ext cx="5468112" cy="3267807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108960"/>
            <a:ext cx="914400" cy="9144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631936" y="3429000"/>
            <a:ext cx="274320" cy="274320"/>
          </a:xfrm>
          <a:prstGeom prst="rightArrow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389120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DEMO VIDEO: DEMO.MP4</a:t>
            </a:r>
          </a:p>
          <a:p>
            <a:pPr algn="ctr">
              <a:defRPr sz="1000">
                <a:solidFill>
                  <a:srgbClr val="3B82F6"/>
                </a:solidFill>
                <a:latin typeface="Segoe UI" panose="020B0502040204020203"/>
              </a:defRPr>
            </a:pPr>
            <a:r>
              <a:t>Launch Demo.mp4 from workspace for actual client playback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MODERN DESKTOP &amp; COGNITIVE SERVICE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Technology Stack &amp; Code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Built on Robust Desktop Foundations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💻 Framework: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C# .NET 10 &amp; Windows Presentation Foundation (WPF) with modern MVVM design properties.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🧠 AI Platform: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Google Gemini API Integration (gemini-3.5-flash, gemini-2.5-flash, gemini-1.5-flash fallbacks).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📁 Caching: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Local JSON file database holding translation memories and syntax metrics per culture code.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Segoe UI" panose="020B0502040204020203"/>
              </a:rPr>
              <a:t>📄 Resource Engine: </a:t>
            </a:r>
            <a:r>
              <a:rPr sz="1200">
                <a:solidFill>
                  <a:srgbClr val="94A3B8"/>
                </a:solidFill>
                <a:latin typeface="Segoe UI" panose="020B0502040204020203"/>
              </a:rPr>
              <a:t>Custom C++ Tokenizer Lexer scanning STRINGTABLE segments with index coordinate mapping.</a:t>
            </a:r>
            <a:endParaRPr sz="120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85232" cy="3931920"/>
          </a:xfrm>
          <a:prstGeom prst="roundRect">
            <a:avLst/>
          </a:prstGeom>
          <a:solidFill>
            <a:srgbClr val="111A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194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SYSTEM LOGICAL DATA PIPELINE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Segoe UI" panose="020B0502040204020203"/>
              </a:rPr>
              <a:t>1. RcParserService: </a:t>
            </a:r>
            <a:r>
              <a:rPr sz="1100">
                <a:solidFill>
                  <a:srgbClr val="94A3B8"/>
                </a:solidFill>
                <a:latin typeface="Segoe UI" panose="020B0502040204020203"/>
              </a:rPr>
              <a:t>Scans raw files using token matching loops to identify start/end coordinates of translatable text.</a:t>
            </a:r>
            <a:endParaRPr sz="11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Segoe UI" panose="020B0502040204020203"/>
              </a:rPr>
              <a:t>2. TranslationMemory: </a:t>
            </a:r>
            <a:r>
              <a:rPr sz="1100">
                <a:solidFill>
                  <a:srgbClr val="94A3B8"/>
                </a:solidFill>
                <a:latin typeface="Segoe UI" panose="020B0502040204020203"/>
              </a:rPr>
              <a:t>Resolves text hash matches, fetching cached C# validation values before invoking network handlers.</a:t>
            </a:r>
            <a:endParaRPr sz="11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Segoe UI" panose="020B0502040204020203"/>
              </a:rPr>
              <a:t>3. GeminiService REST Client: </a:t>
            </a:r>
            <a:r>
              <a:rPr sz="1100">
                <a:solidFill>
                  <a:srgbClr val="94A3B8"/>
                </a:solidFill>
                <a:latin typeface="Segoe UI" panose="020B0502040204020203"/>
              </a:rPr>
              <a:t>Submits payloads containing specialized system instructions and fallbacks to flash models on failure.</a:t>
            </a:r>
            <a:endParaRPr sz="11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Segoe UI" panose="020B0502040204020203"/>
              </a:rPr>
              <a:t>4. ValidationService QA: </a:t>
            </a:r>
            <a:r>
              <a:rPr sz="1100">
                <a:solidFill>
                  <a:srgbClr val="94A3B8"/>
                </a:solidFill>
                <a:latin typeface="Segoe UI" panose="020B0502040204020203"/>
              </a:rPr>
              <a:t>Matches format flags, counting escape codes. Updates local scores and caches validation logs.</a:t>
            </a:r>
            <a:endParaRPr sz="110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Segoe UI" panose="020B0502040204020203"/>
              </a:rPr>
              <a:t>5. RcGeneratorService: </a:t>
            </a:r>
            <a:r>
              <a:rPr sz="1100">
                <a:solidFill>
                  <a:srgbClr val="94A3B8"/>
                </a:solidFill>
                <a:latin typeface="Segoe UI" panose="020B0502040204020203"/>
              </a:rPr>
              <a:t>Sorts modified indices in descending order, replacing strings from bottom to top to preserve offsets.</a:t>
            </a:r>
            <a:endParaRPr sz="1100">
              <a:solidFill>
                <a:srgbClr val="94A3B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WORKSPACE ORGANIZATION &amp; CLEAN DIRECTORY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Modular System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Workspace Directory Tree</a:t>
            </a:r>
          </a:p>
          <a:p>
            <a:pPr>
              <a:lnSpc>
                <a:spcPct val="115000"/>
              </a:lnSpc>
              <a:defRPr sz="1050">
                <a:solidFill>
                  <a:srgbClr val="CBD5E1"/>
                </a:solidFill>
                <a:latin typeface="Consolas" panose="020B0609020204030204"/>
              </a:defRPr>
            </a:pPr>
            <a:r>
              <a:t>Localizer_App/</a:t>
            </a:r>
            <a:br/>
            <a:r>
              <a:t>├── Models/</a:t>
            </a:r>
            <a:br/>
            <a:r>
              <a:t>│   └── Models.cs                  &lt;-- Data transfer models &amp; constants</a:t>
            </a:r>
            <a:br/>
            <a:r>
              <a:t>├── Services/</a:t>
            </a:r>
            <a:br/>
            <a:r>
              <a:t>│   ├── AiService.cs               &lt;-- Gemini API, translator &amp; AI Validation</a:t>
            </a:r>
            <a:br/>
            <a:r>
              <a:t>│   ├── RcParserService.cs         &lt;-- C++ Resource tokenizer parser</a:t>
            </a:r>
            <a:br/>
            <a:r>
              <a:t>│   ├── RcGeneratorService.cs      &lt;-- Bottom-up coordinate safe rebuilder</a:t>
            </a:r>
            <a:br/>
            <a:r>
              <a:t>│   ├── TranslationMemoryService.cs &lt;-- Local JSON caches per language</a:t>
            </a:r>
            <a:br/>
            <a:r>
              <a:t>│   └── ValidationService.cs       &lt;-- Syntax placeholder checks</a:t>
            </a:r>
            <a:br/>
            <a:r>
              <a:t>├── Views/</a:t>
            </a:r>
            <a:br/>
            <a:r>
              <a:t>│   ├── MainWindow.xaml/cs         &lt;-- Main editor controller</a:t>
            </a:r>
            <a:br/>
            <a:r>
              <a:t>│   └── PreviewWindow.xaml/cs      &lt;-- Live UI dialog simulation mockup</a:t>
            </a:r>
            <a:br/>
            <a:r>
              <a:t>└── Resources/</a:t>
            </a:r>
            <a:br/>
            <a:r>
              <a:t>    ├── en-US.rc / ui_strings.rc   &lt;-- Base UI layouts resource script</a:t>
            </a:r>
            <a:br/>
            <a:r>
              <a:t>    └── TranslationMemory/         &lt;-- Local cache database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85232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38655"/>
            <a:ext cx="501091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High-Cohesion Architecture Overview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The application organizes logic into clear layers to ensure code review readiness:</a:t>
            </a:r>
            <a:br/>
            <a:br/>
            <a:r>
              <a:t>• Low Code Complexity: Methods are designed to be under 10 lines of code, prioritizing event-driven triggers inside views.</a:t>
            </a:r>
            <a:br/>
            <a:br/>
            <a:r>
              <a:t>• Data Model Integrity: Models.cs consolidates models (ResourceString, TargetLanguage, ValidationResult) under one namespace, avoiding scattered class files.</a:t>
            </a:r>
            <a:br/>
            <a:br/>
            <a:r>
              <a:t>• Dynamic Dropdown System: PreviewWindow parses files inside the Resources/ folder dynamically, eliminating hardcoded languages list and keeping preview logic purely file-driven.</a:t>
            </a:r>
            <a:br/>
            <a:br/>
            <a:r>
              <a:t>• Secure Storage Boundaries: Config details are isolated in AppData config.env files rather than standard App.config, safeguarding API credentials.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MEASURABLE OPERATIONAL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ROI &amp;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2563EB"/>
                </a:solidFill>
                <a:latin typeface="Century Gothic" panose="020B0502020202020204"/>
              </a:defRPr>
            </a:pPr>
            <a:r>
              <a:t>3.0x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Faster Turnaround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Localization reviews shrink from weeks to minutes. Eliminates pipeline friction between engineers and agencies.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10B981"/>
                </a:solidFill>
                <a:latin typeface="Century Gothic" panose="020B0502020202020204"/>
              </a:defRPr>
            </a:pPr>
            <a:r>
              <a:t>90%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Cost Reduction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Sub-millisecond local caching limits Gemini API calls exclusively to changed text keys, saving translation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100%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CAD Accuracy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Tailored system instructions enforce strict technical glossary standards for design tools, preventing generic translations.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0264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10B981"/>
                </a:solidFill>
                <a:latin typeface="Century Gothic" panose="020B0502020202020204"/>
              </a:defRPr>
            </a:pPr>
            <a:r>
              <a:t>0%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Syntax Crashes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t>Local validators scan placeholder counts and escape parameters, preventing C++ runtime crashes before compiling.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PRODUCT EXPANSION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Future Roadmap &amp;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Scaling to Enterprise-Grade Pipelines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50" b="1">
                <a:solidFill>
                  <a:srgbClr val="F8FAFC"/>
                </a:solidFill>
                <a:latin typeface="Segoe UI" panose="020B0502040204020203"/>
              </a:rPr>
              <a:t>1. CLI &amp; Build Script Integration: </a:t>
            </a:r>
            <a:r>
              <a:rPr sz="1250">
                <a:solidFill>
                  <a:srgbClr val="94A3B8"/>
                </a:solidFill>
                <a:latin typeface="Segoe UI" panose="020B0502040204020203"/>
              </a:rPr>
              <a:t>Inject automated translation validation checks directly into CI/CD compiler pipelines on code commit.</a:t>
            </a:r>
            <a:endParaRPr sz="125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50" b="1">
                <a:solidFill>
                  <a:srgbClr val="F8FAFC"/>
                </a:solidFill>
                <a:latin typeface="Segoe UI" panose="020B0502040204020203"/>
              </a:rPr>
              <a:t>2. Dynamic Layout Adjustments: </a:t>
            </a:r>
            <a:r>
              <a:rPr sz="1250">
                <a:solidFill>
                  <a:srgbClr val="94A3B8"/>
                </a:solidFill>
                <a:latin typeface="Segoe UI" panose="020B0502040204020203"/>
              </a:rPr>
              <a:t>Utilize parser data to recommend panel layout dimension updates for verbose translations in CAD properties docks.</a:t>
            </a:r>
            <a:endParaRPr sz="125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50" b="1">
                <a:solidFill>
                  <a:srgbClr val="F8FAFC"/>
                </a:solidFill>
                <a:latin typeface="Segoe UI" panose="020B0502040204020203"/>
              </a:rPr>
              <a:t>3. Centralized Cloud TM Syncing: </a:t>
            </a:r>
            <a:r>
              <a:rPr sz="1250">
                <a:solidFill>
                  <a:srgbClr val="94A3B8"/>
                </a:solidFill>
                <a:latin typeface="Segoe UI" panose="020B0502040204020203"/>
              </a:rPr>
              <a:t>Synchronize local JSON caches with central database repositories to share terminology overrides across global teams.</a:t>
            </a:r>
            <a:endParaRPr sz="1250">
              <a:solidFill>
                <a:srgbClr val="94A3B8"/>
              </a:solidFill>
              <a:latin typeface="Segoe UI" panose="020B0502040204020203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50" b="1">
                <a:solidFill>
                  <a:srgbClr val="F8FAFC"/>
                </a:solidFill>
                <a:latin typeface="Segoe UI" panose="020B0502040204020203"/>
              </a:rPr>
              <a:t>4. Expanded Localization Types: </a:t>
            </a:r>
            <a:r>
              <a:rPr sz="1250">
                <a:solidFill>
                  <a:srgbClr val="94A3B8"/>
                </a:solidFill>
                <a:latin typeface="Segoe UI" panose="020B0502040204020203"/>
              </a:rPr>
              <a:t>Extend parser scanning logic to support XML, JSON, and standard C# resx resources, centralizing global UI tasks.</a:t>
            </a:r>
            <a:endParaRPr sz="125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4828032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220" y="1988820"/>
            <a:ext cx="4535805" cy="4000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rPr sz="1600"/>
              <a:t>Enterprise Readiness Conclusion</a:t>
            </a:r>
            <a:endParaRPr sz="1600"/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/>
              <a:t>Localizer App resolves the structural, layout, and terminology failures of standard software localization workflows.</a:t>
            </a:r>
            <a:br>
              <a:rPr sz="1200"/>
            </a:br>
            <a:br>
              <a:rPr sz="1200"/>
            </a:br>
            <a:r>
              <a:rPr sz="1200"/>
              <a:t>By automating parsing, integrating local cache memories, and embedding simulative CAD mockups, we empower development teams to translate and validate resources locally, efficiently, and safely.</a:t>
            </a:r>
            <a:br>
              <a:rPr sz="1200"/>
            </a:br>
            <a:br>
              <a:rPr sz="1200"/>
            </a:br>
            <a:r>
              <a:rPr sz="1200"/>
              <a:t>The proof-of-concept is built, validated, and ready for integration. Let's schedule a hands-on session to review deployment into your active build pipelines.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1735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SESSION CONCLUSION</a:t>
            </a:r>
          </a:p>
          <a:p>
            <a:pPr>
              <a:spcAft>
                <a:spcPts val="1200"/>
              </a:spcAft>
              <a:defRPr sz="6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Thank You</a:t>
            </a:r>
          </a:p>
          <a:p>
            <a:pPr>
              <a:spcAft>
                <a:spcPts val="4500"/>
              </a:spcAft>
              <a:defRPr sz="2000">
                <a:solidFill>
                  <a:srgbClr val="94A3B8"/>
                </a:solidFill>
                <a:latin typeface="Century Gothic" panose="020B0502020202020204"/>
              </a:defRPr>
            </a:pPr>
            <a:r>
              <a:t>Questions &amp; Answers  |  Product Feedback Session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Segoe UI" panose="020B0502040204020203"/>
              </a:defRPr>
            </a:pPr>
            <a:r>
              <a:t>For architectural walkthrough and code details, refer to:</a:t>
            </a:r>
          </a:p>
          <a:p>
            <a:pPr>
              <a:defRPr sz="1100">
                <a:solidFill>
                  <a:srgbClr val="3B82F6"/>
                </a:solidFill>
                <a:latin typeface="Segoe UI" panose="020B0502040204020203"/>
              </a:defRPr>
            </a:pPr>
            <a:r>
              <a:t>• Developer Architecture Guide: RcLocalizer_Guide.md  |  • Concepts Index: RcLocalizer_Concepts.md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11534</Words>
  <Application>WPS Presentation</Application>
  <PresentationFormat>On-screen Show (4:3)</PresentationFormat>
  <Paragraphs>198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Century Gothic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22510048 MAHADIK SARTHAK DIPAK</cp:lastModifiedBy>
  <cp:revision>2</cp:revision>
  <dcterms:created xsi:type="dcterms:W3CDTF">2013-01-27T09:14:00Z</dcterms:created>
  <dcterms:modified xsi:type="dcterms:W3CDTF">2026-06-20T10:51:10Z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7322D5C637014163A17A81426A1896FC_12</vt:lpwstr>
  </property>
</Properties>
</file>