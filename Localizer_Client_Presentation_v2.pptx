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71" r:id="rId29"/>
    <p:sldId id="263" r:id="rId10"/>
    <p:sldId id="264" r:id="rId11"/>
    <p:sldId id="265" r:id="rId12"/>
    <p:sldId id="266" r:id="rId13"/>
    <p:sldId id="269" r:id="rId16"/>
    <p:sldId id="272" r:id="rId30"/>
    <p:sldId id="270" r:id="rId17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8.xml"/><Relationship Id="rId22" Type="http://schemas.openxmlformats.org/officeDocument/2006/relationships/slide" Target="slides/slide15.xml"/><Relationship Id="rId23" Type="http://schemas.openxmlformats.org/officeDocument/2006/relationships/slide" Target="slides/slide7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3.xml"/><Relationship Id="rId3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2011680"/>
            <a:ext cx="10817352" cy="2649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CCTECH INTERNSHIP CAPSTONE PROJECT</a:t>
            </a:r>
          </a:p>
          <a:p>
            <a:pPr>
              <a:spcAft>
                <a:spcPts val="800"/>
              </a:spcAft>
              <a:defRPr sz="6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Localizer App</a:t>
            </a:r>
          </a:p>
          <a:p>
            <a:pPr>
              <a:spcAft>
                <a:spcPts val="4500"/>
              </a:spcAft>
              <a:defRPr sz="2000">
                <a:solidFill>
                  <a:srgbClr val="94A3B8"/>
                </a:solidFill>
                <a:latin typeface="Century Gothic" panose="020B0502020202020204"/>
              </a:defRPr>
            </a:pPr>
            <a:r>
              <a:t>AI-Powered Software Localization Engine for Enterprise CAD/BIM Applications</a:t>
            </a:r>
          </a:p>
          <a:p>
            <a:pPr>
              <a:defRPr sz="1200" b="1">
                <a:solidFill>
                  <a:srgbClr val="F8FAFC"/>
                </a:solidFill>
                <a:latin typeface="Segoe UI" panose="020B0502040204020203"/>
              </a:defRPr>
            </a:pPr>
            <a:r>
              <a:t>Developed by </a:t>
            </a:r>
            <a:r>
              <a:rPr lang="en-IN"/>
              <a:t> Sarthak Mahadik </a:t>
            </a:r>
            <a:r>
              <a:rPr lang="en-IN">
                <a:sym typeface="+mn-ea"/>
              </a:rPr>
              <a:t> And Ganesh Chavan</a:t>
            </a:r>
          </a:p>
          <a:p>
            <a:pPr>
              <a:defRPr sz="1100">
                <a:solidFill>
                  <a:srgbClr val="94A3B8"/>
                </a:solidFill>
                <a:latin typeface="Segoe UI" panose="020B0502040204020203"/>
              </a:defRPr>
            </a:pPr>
            <a:r>
              <a:t>Project Mentor: CCTech &amp; Autodesk Stakeholders  |  Date: June 20,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MARKET CONTEXT &amp; INEFFICIENCIES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The Business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943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0000"/>
              </a:lnSpc>
              <a:spcAft>
                <a:spcPts val="2000"/>
              </a:spcAft>
              <a:defRPr sz="1800">
                <a:solidFill>
                  <a:srgbClr val="F8FAFC"/>
                </a:solidFill>
                <a:latin typeface="Century Gothic" panose="020B0502020202020204"/>
              </a:defRPr>
            </a:pPr>
            <a:r>
              <a:t>Software localization in CAD/BIM engineering fields faces strict layout rules and domain vocabulary gaps: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8FAFC"/>
                </a:solidFill>
                <a:latin typeface="Segoe UI" panose="020B0502040204020203"/>
              </a:rPr>
              <a:t>⏱️ Slow Time-to-Market: </a:t>
            </a:r>
            <a:r>
              <a:rPr sz="1300">
                <a:solidFill>
                  <a:srgbClr val="94A3B8"/>
                </a:solidFill>
                <a:latin typeface="Segoe UI" panose="020B0502040204020203"/>
              </a:rPr>
              <a:t>Manual translation script reviews take days or weeks for minor UI revisions.</a:t>
            </a:r>
            <a:endParaRPr sz="13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8FAFC"/>
                </a:solidFill>
                <a:latin typeface="Segoe UI" panose="020B0502040204020203"/>
              </a:rPr>
              <a:t>🔤 Technical Vocab Gaps: </a:t>
            </a:r>
            <a:r>
              <a:rPr sz="1300">
                <a:solidFill>
                  <a:srgbClr val="94A3B8"/>
                </a:solidFill>
                <a:latin typeface="Segoe UI" panose="020B0502040204020203"/>
              </a:rPr>
              <a:t>Generic translation tools lack context, translating specialized words literally (e.g. 'Draft', 'Viewport').</a:t>
            </a:r>
            <a:endParaRPr sz="13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8FAFC"/>
                </a:solidFill>
                <a:latin typeface="Segoe UI" panose="020B0502040204020203"/>
              </a:rPr>
              <a:t>🔄 Redundant Translation Expenses: </a:t>
            </a:r>
            <a:r>
              <a:rPr sz="1300">
                <a:solidFill>
                  <a:srgbClr val="94A3B8"/>
                </a:solidFill>
                <a:latin typeface="Segoe UI" panose="020B0502040204020203"/>
              </a:rPr>
              <a:t>Re-translating unchanged files incurs constant operational costs and API queries.</a:t>
            </a:r>
            <a:endParaRPr sz="13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300" b="1">
                <a:solidFill>
                  <a:srgbClr val="F8FAFC"/>
                </a:solidFill>
                <a:latin typeface="Segoe UI" panose="020B0502040204020203"/>
              </a:rPr>
              <a:t>💥 Unvalidated Code Failures: </a:t>
            </a:r>
            <a:r>
              <a:rPr sz="1300">
                <a:solidFill>
                  <a:srgbClr val="94A3B8"/>
                </a:solidFill>
                <a:latin typeface="Segoe UI" panose="020B0502040204020203"/>
              </a:rPr>
              <a:t>Altered string tokens disrupt C++ formatting guides, leading to immediate system crashes.</a:t>
            </a:r>
            <a:endParaRPr sz="13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87952" cy="2011680"/>
          </a:xfrm>
          <a:prstGeom prst="roundRect">
            <a:avLst/>
          </a:prstGeom>
          <a:solidFill>
            <a:srgbClr val="111A2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828800"/>
            <a:ext cx="38221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400" b="1">
                <a:solidFill>
                  <a:srgbClr val="EF4444"/>
                </a:solidFill>
                <a:latin typeface="Century Gothic" panose="020B0502020202020204"/>
              </a:defRPr>
            </a:pPr>
            <a:r>
              <a:t>85%</a:t>
            </a:r>
          </a:p>
          <a:p>
            <a:pPr>
              <a:defRPr sz="1200">
                <a:solidFill>
                  <a:srgbClr val="94A3B8"/>
                </a:solidFill>
                <a:latin typeface="Segoe UI" panose="020B0502040204020203"/>
              </a:defRPr>
            </a:pPr>
            <a:r>
              <a:t>Linguistic cycle delay in standard releases due to manual C++ resource checking.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931920"/>
            <a:ext cx="4187952" cy="2011680"/>
          </a:xfrm>
          <a:prstGeom prst="roundRect">
            <a:avLst/>
          </a:prstGeom>
          <a:solidFill>
            <a:srgbClr val="111A2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4114800"/>
            <a:ext cx="382219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4400" b="1">
                <a:solidFill>
                  <a:srgbClr val="EF4444"/>
                </a:solidFill>
                <a:latin typeface="Century Gothic" panose="020B0502020202020204"/>
              </a:defRPr>
            </a:pPr>
            <a:r>
              <a:t>$10k+</a:t>
            </a:r>
          </a:p>
          <a:p>
            <a:pPr>
              <a:defRPr sz="1200">
                <a:solidFill>
                  <a:srgbClr val="94A3B8"/>
                </a:solidFill>
                <a:latin typeface="Segoe UI" panose="020B0502040204020203"/>
              </a:defRPr>
            </a:pPr>
            <a:r>
              <a:t>Average localized translation agency and pipeline setup cost per major release.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DIRECT BUSINESS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The Solution: Localizer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Automated, AI-Assisted CAD Localization Studio</a:t>
            </a:r>
          </a:p>
          <a:p>
            <a:pPr>
              <a:lnSpc>
                <a:spcPct val="130000"/>
              </a:lnSpc>
              <a:spcAft>
                <a:spcPts val="2400"/>
              </a:spcAft>
              <a:defRPr sz="1300">
                <a:solidFill>
                  <a:srgbClr val="CBD5E1"/>
                </a:solidFill>
                <a:latin typeface="Segoe UI" panose="020B0502040204020203"/>
              </a:defRPr>
            </a:pPr>
            <a:r>
              <a:t>Localizer App bridges resource lexer tokenizers with Google Gemini AI. The tool delivers a streamlined, desktop-integrated translation workspace: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📦 Automated Extraction: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Reads C++ .rc files directly, targetting string tables while ignoring macros/comments.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⚡ Sub-ms Local Caching: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Translation Memory holds previous translations and validations to prevent API costs.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🛡️ Double-Layer Guard: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Validates syntax placeholders locally + executes Gemini AI QA evaluations.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🖥️ Simulative Workspace Dialogs: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Overlays edits in real-time on a virtual UI mockup, verifying spacing before export.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17920" y="1725678"/>
            <a:ext cx="5285232" cy="21945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0" y="1789686"/>
            <a:ext cx="45720" cy="457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37376" y="1789686"/>
            <a:ext cx="45720" cy="45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65392" y="1789686"/>
            <a:ext cx="45720" cy="45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shboard mainui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945134"/>
            <a:ext cx="5285232" cy="355294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1725678"/>
            <a:ext cx="5285232" cy="3772402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543801"/>
            <a:ext cx="5285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 panose="020B0502040204020203"/>
              </a:defRPr>
            </a:pPr>
            <a:r>
              <a:t>Figure: Main Application Grid showing loaded workspace status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ENGINEERED FOR PRODUCT 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Key Features &amp;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328416" cy="201168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30540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🔍 RC File Parsing</a:t>
            </a:r>
          </a:p>
          <a:p>
            <a:pPr>
              <a:lnSpc>
                <a:spcPct val="120000"/>
              </a:lnSpc>
              <a:defRPr sz="1050">
                <a:solidFill>
                  <a:srgbClr val="94A3B8"/>
                </a:solidFill>
                <a:latin typeface="Segoe UI" panose="020B0502040204020203"/>
              </a:defRPr>
            </a:pPr>
            <a:r>
              <a:t>Scans C++ Resource Scripts natively. Identifies translatable strings inside STRINGTABLE blocks while preserving coordinate offsets.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645920"/>
            <a:ext cx="3328416" cy="201168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1783080"/>
            <a:ext cx="30540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🧠 AI Translation Workflow</a:t>
            </a:r>
          </a:p>
          <a:p>
            <a:pPr>
              <a:lnSpc>
                <a:spcPct val="120000"/>
              </a:lnSpc>
              <a:defRPr sz="1050">
                <a:solidFill>
                  <a:srgbClr val="94A3B8"/>
                </a:solidFill>
                <a:latin typeface="Segoe UI" panose="020B0502040204020203"/>
              </a:defRPr>
            </a:pPr>
            <a:r>
              <a:t>Translates string batches using Gemini model fallback logic, selecting optimal words using specialized CAD/BIM terminology 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5592" y="1645920"/>
            <a:ext cx="3328416" cy="201168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783080"/>
            <a:ext cx="30540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⚡ Translation Memory Cache</a:t>
            </a:r>
          </a:p>
          <a:p>
            <a:pPr>
              <a:lnSpc>
                <a:spcPct val="120000"/>
              </a:lnSpc>
              <a:defRPr sz="1050">
                <a:solidFill>
                  <a:srgbClr val="94A3B8"/>
                </a:solidFill>
                <a:latin typeface="Segoe UI" panose="020B0502040204020203"/>
              </a:defRPr>
            </a:pPr>
            <a:r>
              <a:t>Saves translations, QA scores, and feedbacks. Bypasses Gemini API calls for identical source keys, cutting costs to $0.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931920"/>
            <a:ext cx="3328416" cy="201168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30540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🛡️ Glossary Validation</a:t>
            </a:r>
          </a:p>
          <a:p>
            <a:pPr>
              <a:lnSpc>
                <a:spcPct val="120000"/>
              </a:lnSpc>
              <a:defRPr sz="1050">
                <a:solidFill>
                  <a:srgbClr val="94A3B8"/>
                </a:solidFill>
                <a:latin typeface="Segoe UI" panose="020B0502040204020203"/>
              </a:defRPr>
            </a:pPr>
            <a:r>
              <a:t>Enforces formatting checks (escapes and parameters) to prevent crashes, combined with Gemini linguistic quality evaluations.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3931920"/>
            <a:ext cx="3328416" cy="201168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4069080"/>
            <a:ext cx="30540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🖥️ Simulative Preview Window</a:t>
            </a:r>
          </a:p>
          <a:p>
            <a:pPr>
              <a:lnSpc>
                <a:spcPct val="120000"/>
              </a:lnSpc>
              <a:defRPr sz="1050">
                <a:solidFill>
                  <a:srgbClr val="94A3B8"/>
                </a:solidFill>
                <a:latin typeface="Segoe UI" panose="020B0502040204020203"/>
              </a:defRPr>
            </a:pPr>
            <a:r>
              <a:t>Mockup workspace displaying menu ribbons and properties panels, dynamically populated to verify text overflows live.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3931920"/>
            <a:ext cx="3328416" cy="2011680"/>
          </a:xfrm>
          <a:prstGeom prst="roundRect">
            <a:avLst/>
          </a:prstGeom>
          <a:solidFill>
            <a:srgbClr val="111A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4069080"/>
            <a:ext cx="30540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📁 Safe Localized Export</a:t>
            </a:r>
          </a:p>
          <a:p>
            <a:pPr>
              <a:lnSpc>
                <a:spcPct val="120000"/>
              </a:lnSpc>
              <a:defRPr sz="1050">
                <a:solidFill>
                  <a:srgbClr val="94A3B8"/>
                </a:solidFill>
                <a:latin typeface="Segoe UI" panose="020B0502040204020203"/>
              </a:defRPr>
            </a:pPr>
            <a:r>
              <a:t>Generates C++ resource script files in-place using back-to-front replacement, keeping layout coordinate files perfectly intact.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INTERACTIVE STRING GRID &amp; TRANSLATION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Active Translation Workspace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Visual Grid Editor with Manual Override</a:t>
            </a:r>
          </a:p>
          <a:p>
            <a:pPr>
              <a:lnSpc>
                <a:spcPct val="130000"/>
              </a:lnSpc>
              <a:spcAft>
                <a:spcPts val="2000"/>
              </a:spcAft>
              <a:defRPr sz="1300">
                <a:solidFill>
                  <a:srgbClr val="CBD5E1"/>
                </a:solidFill>
                <a:latin typeface="Segoe UI" panose="020B0502040204020203"/>
              </a:defRPr>
            </a:pPr>
            <a:r>
              <a:t>The system loads extracted strings directly into an in-memory editor grid. Translators can perform direct, key-by-key editing and trigger batch automation: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✍️ Inline Manual Editing: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Double-click any translation cell to override values manually.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⚡ Batch Translation: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Sends missing keys to Google Gemini in parallel threads to maximize throughput.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📊 Cache Hit Tracking: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Monitors hits and misses in real-time, computing active cache percentage ratios in the header stats bar.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17920" y="1725678"/>
            <a:ext cx="5285232" cy="21945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0" y="1789686"/>
            <a:ext cx="45720" cy="457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37376" y="1789686"/>
            <a:ext cx="45720" cy="45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65392" y="1789686"/>
            <a:ext cx="45720" cy="45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After_Translating_rc_string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945134"/>
            <a:ext cx="5285232" cy="355294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1725678"/>
            <a:ext cx="5285232" cy="3772402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543801"/>
            <a:ext cx="5285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 panose="020B0502040204020203"/>
              </a:defRPr>
            </a:pPr>
            <a:r>
              <a:t>WPF Workspace: Main translation editor grid after running AI batch translation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HYBRID LOCAL &amp; AI-POWERED QA 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Quality Validation Workspace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Unified QA Panel &amp; Diagnostics</a:t>
            </a:r>
          </a:p>
          <a:p>
            <a:pPr>
              <a:lnSpc>
                <a:spcPct val="130000"/>
              </a:lnSpc>
              <a:spcAft>
                <a:spcPts val="2000"/>
              </a:spcAft>
              <a:defRPr sz="1300">
                <a:solidFill>
                  <a:srgbClr val="CBD5E1"/>
                </a:solidFill>
                <a:latin typeface="Segoe UI" panose="020B0502040204020203"/>
              </a:defRPr>
            </a:pPr>
            <a:r>
              <a:t>Clicking 'Validate' runs double-layer diagnostic checks. The Validation Panel slides open on the right side of the main workspace: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✔️ Local Placeholder Verifiers: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Scans parameter counts (%s, %d, {0}) to guarantee C++ compiler safety.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🧠 Gemini AI Quality Rating: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Evaluates context, scoring translations from 0 to 100, and categorizes into Excellent, Good, or Review tags.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📝 Actionable QA Feedback: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Logs clear error descriptions and improvement recommendations inside the grid feedback cells.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17920" y="2038926"/>
            <a:ext cx="5285232" cy="21945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0" y="2102934"/>
            <a:ext cx="45720" cy="457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37376" y="2102934"/>
            <a:ext cx="45720" cy="45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65392" y="2102934"/>
            <a:ext cx="45720" cy="45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after_validating_strin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58382"/>
            <a:ext cx="5285232" cy="29264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2038926"/>
            <a:ext cx="5285232" cy="3145906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230553"/>
            <a:ext cx="5285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 panose="020B0502040204020203"/>
              </a:defRPr>
            </a:pPr>
            <a:r>
              <a:t>Linguistic Quality Audit: Side-by-side validation panels displaying local syntax checks and AI QA scorecards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Arial"/>
              </a:defRPr>
            </a:pPr>
            <a:r>
              <a:t>LINGUISTIC LOCALIZATION PROCESS FLOW...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Sequential Processing Pipeline showing Ingestion, Cache Lookup, Translation, Validation, and Export...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64592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Arial"/>
              </a:defRPr>
            </a:pPr>
            <a:r>
              <a:t>LINGUISTIC LOCALIZATION PROCESS FLOW...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Sequential Processing Pipeline showing Ingestion, Cache Lookup, Translation, Validation, and Export...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lization_workflow_diagram_1782037081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64592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REAL-TIME VISUAL LAYOUT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WPF Dialog Simulation Studio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949960"/>
            <a:ext cx="5120640" cy="21945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013968"/>
            <a:ext cx="45720" cy="457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2013968"/>
            <a:ext cx="45720" cy="45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013968"/>
            <a:ext cx="45720" cy="45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eview_UI_IN_Englis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69416"/>
            <a:ext cx="5120640" cy="28300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85800" y="1949960"/>
            <a:ext cx="5120640" cy="3049519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04519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 panose="020B0502040204020203"/>
              </a:defRPr>
            </a:pPr>
            <a:r>
              <a:t>Standard English UI Dialog Mockup Layout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2512" y="1952619"/>
            <a:ext cx="5120640" cy="21945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73952" y="2016627"/>
            <a:ext cx="45720" cy="457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01968" y="2016627"/>
            <a:ext cx="45720" cy="45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29984" y="2016627"/>
            <a:ext cx="45720" cy="45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eview_Ui_In_Japane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2172075"/>
            <a:ext cx="5120640" cy="282474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82512" y="1952619"/>
            <a:ext cx="5120640" cy="3044201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50425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 panose="020B0502040204020203"/>
              </a:defRPr>
            </a:pPr>
            <a:r>
              <a:t>Japanese Localized UI Dialog Mockup Overlay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 panose="020B0502040204020203"/>
              </a:defRPr>
            </a:pPr>
            <a:r>
              <a:t>Linguistic validation is overlaid in-memory. Designers can instantly review if a translated string overflows menu borders or overlaps labels before generating compiled binary outputs.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REVERSE INDEX-SAFE SEGMENT REPLACEMENTS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Coordinate-Safe Rebuilder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Bottom-Up String Injector</a:t>
            </a:r>
          </a:p>
          <a:p>
            <a:pPr>
              <a:lnSpc>
                <a:spcPct val="130000"/>
              </a:lnSpc>
              <a:spcAft>
                <a:spcPts val="2000"/>
              </a:spcAft>
              <a:defRPr sz="1300">
                <a:solidFill>
                  <a:srgbClr val="CBD5E1"/>
                </a:solidFill>
                <a:latin typeface="Segoe UI" panose="020B0502040204020203"/>
              </a:defRPr>
            </a:pPr>
            <a:r>
              <a:t>Modifying C++ resource scripts (.rc) can corrupt character coordinate layouts if segment lengths alter. The generator implements a bottom-up parsing replace loop: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🔄 Descending Replace Loop: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Sorts translatable strings in descending order based on their character offsets before inserting translations.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🔒 Spacing &amp; Comment Preservation: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Only modifies targeted string literals, keeping preceding spacing, includes, and headers intact.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📝 Proper Escaping Rules: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Automatically doubles nested quotes inside string segments to adhere strictly to C++ compiler standards.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17920" y="2032621"/>
            <a:ext cx="5285232" cy="21945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0" y="2096629"/>
            <a:ext cx="45720" cy="457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37376" y="2096629"/>
            <a:ext cx="45720" cy="45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65392" y="2096629"/>
            <a:ext cx="45720" cy="45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while_saving_the_localized_rc_fi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2252077"/>
            <a:ext cx="5285232" cy="29390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7920" y="2032621"/>
            <a:ext cx="5285232" cy="3158516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5236858"/>
            <a:ext cx="5285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i="1">
                <a:solidFill>
                  <a:srgbClr val="94A3B8"/>
                </a:solidFill>
                <a:latin typeface="Segoe UI" panose="020B0502040204020203"/>
              </a:defRPr>
            </a:pPr>
            <a:r>
              <a:t>File Generation: Saving the compiled localized resource script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LIVE SYSTEM WALKTHROUGH &amp; DEMO.MP4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Product Demonstration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Video Demonstration Overview</a:t>
            </a:r>
          </a:p>
          <a:p>
            <a:pPr>
              <a:lnSpc>
                <a:spcPct val="130000"/>
              </a:lnSpc>
              <a:spcAft>
                <a:spcPts val="2400"/>
              </a:spcAft>
              <a:defRPr sz="1300">
                <a:solidFill>
                  <a:srgbClr val="94A3B8"/>
                </a:solidFill>
                <a:latin typeface="Segoe UI" panose="020B0502040204020203"/>
              </a:defRPr>
            </a:pPr>
            <a:r>
              <a:t>A complete execution cycle is recorded and packaged in the demo media package. Watch the system parse C++ files, translate strings, and validate parameters: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🎥 Video File Name: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Demo.mp4 (located in the project root directory).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⚡ Key Video Highlights: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Extracting sample.rc, executing cache lookups, checking validation logs, and viewing the live Japanese preview.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🖥️ Playback: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Playable in standard desktop media players during client-facing reviews.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943600" y="1645920"/>
            <a:ext cx="5559552" cy="3931920"/>
          </a:xfrm>
          <a:prstGeom prst="rect">
            <a:avLst/>
          </a:prstGeom>
          <a:solidFill>
            <a:srgbClr val="0E1420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I_while_saving_the_localized_rc_fi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7976"/>
            <a:ext cx="5468112" cy="326780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89320" y="1977976"/>
            <a:ext cx="5468112" cy="3267807"/>
          </a:xfrm>
          <a:prstGeom prst="rect">
            <a:avLst/>
          </a:prstGeom>
          <a:solidFill>
            <a:srgbClr val="0B0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66175" y="3108960"/>
            <a:ext cx="914400" cy="914400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631936" y="3429000"/>
            <a:ext cx="274320" cy="274320"/>
          </a:xfrm>
          <a:prstGeom prst="rightArrow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4389120"/>
            <a:ext cx="5559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DEMO VIDEO: DEMO.MP4</a:t>
            </a:r>
          </a:p>
          <a:p>
            <a:pPr algn="ctr">
              <a:defRPr sz="1000">
                <a:solidFill>
                  <a:srgbClr val="3B82F6"/>
                </a:solidFill>
                <a:latin typeface="Segoe UI" panose="020B0502040204020203"/>
              </a:defRPr>
            </a:pPr>
            <a:r>
              <a:t>Launch Demo.mp4 from workspace for actual client playback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MODERN DESKTOP &amp; COGNITIVE SERVICE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Technology Stack &amp; Code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500"/>
              </a:spcAft>
              <a:defRPr sz="1800" b="1">
                <a:solidFill>
                  <a:srgbClr val="F8FAFC"/>
                </a:solidFill>
                <a:latin typeface="Century Gothic" panose="020B0502020202020204"/>
              </a:defRPr>
            </a:pPr>
            <a:r>
              <a:t>Built on Robust Desktop Foundations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💻 Framework: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C# .NET 10 &amp; Windows Presentation Foundation (WPF) with modern MVVM design properties.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🧠 AI Platform: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Google Gemini API Integration (gemini-3.5-flash, gemini-2.5-flash, gemini-1.5-flash fallbacks).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📁 Caching: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Local JSON file database holding translation memories and syntax metrics per culture code.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200" b="1">
                <a:solidFill>
                  <a:srgbClr val="F8FAFC"/>
                </a:solidFill>
                <a:latin typeface="Segoe UI" panose="020B0502040204020203"/>
              </a:rPr>
              <a:t>📄 Resource Engine: </a:t>
            </a:r>
            <a:r>
              <a:rPr sz="1200">
                <a:solidFill>
                  <a:srgbClr val="94A3B8"/>
                </a:solidFill>
                <a:latin typeface="Segoe UI" panose="020B0502040204020203"/>
              </a:rPr>
              <a:t>Custom C++ Tokenizer Lexer scanning STRINGTABLE segments with index coordinate mapping.</a:t>
            </a:r>
            <a:endParaRPr sz="1200">
              <a:solidFill>
                <a:srgbClr val="94A3B8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85232" cy="3931920"/>
          </a:xfrm>
          <a:prstGeom prst="roundRect">
            <a:avLst/>
          </a:prstGeom>
          <a:solidFill>
            <a:srgbClr val="111A2E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919472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3B82F6"/>
                </a:solidFill>
                <a:latin typeface="Century Gothic" panose="020B0502020202020204"/>
              </a:defRPr>
            </a:pPr>
            <a:r>
              <a:t>SYSTEM LOGICAL DATA PIPELINE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 b="1">
                <a:solidFill>
                  <a:srgbClr val="F8FAFC"/>
                </a:solidFill>
                <a:latin typeface="Segoe UI" panose="020B0502040204020203"/>
              </a:rPr>
              <a:t>1. RcParserService: </a:t>
            </a:r>
            <a:r>
              <a:rPr sz="1100">
                <a:solidFill>
                  <a:srgbClr val="94A3B8"/>
                </a:solidFill>
                <a:latin typeface="Segoe UI" panose="020B0502040204020203"/>
              </a:rPr>
              <a:t>Scans raw files using token matching loops to identify start/end coordinates of translatable text.</a:t>
            </a:r>
            <a:endParaRPr sz="11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 b="1">
                <a:solidFill>
                  <a:srgbClr val="F8FAFC"/>
                </a:solidFill>
                <a:latin typeface="Segoe UI" panose="020B0502040204020203"/>
              </a:rPr>
              <a:t>2. TranslationMemory: </a:t>
            </a:r>
            <a:r>
              <a:rPr sz="1100">
                <a:solidFill>
                  <a:srgbClr val="94A3B8"/>
                </a:solidFill>
                <a:latin typeface="Segoe UI" panose="020B0502040204020203"/>
              </a:rPr>
              <a:t>Resolves text hash matches, fetching cached C# validation values before invoking network handlers.</a:t>
            </a:r>
            <a:endParaRPr sz="11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 b="1">
                <a:solidFill>
                  <a:srgbClr val="F8FAFC"/>
                </a:solidFill>
                <a:latin typeface="Segoe UI" panose="020B0502040204020203"/>
              </a:rPr>
              <a:t>3. GeminiService REST Client: </a:t>
            </a:r>
            <a:r>
              <a:rPr sz="1100">
                <a:solidFill>
                  <a:srgbClr val="94A3B8"/>
                </a:solidFill>
                <a:latin typeface="Segoe UI" panose="020B0502040204020203"/>
              </a:rPr>
              <a:t>Submits payloads containing specialized system instructions and fallbacks to flash models on failure.</a:t>
            </a:r>
            <a:endParaRPr sz="11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 b="1">
                <a:solidFill>
                  <a:srgbClr val="F8FAFC"/>
                </a:solidFill>
                <a:latin typeface="Segoe UI" panose="020B0502040204020203"/>
              </a:rPr>
              <a:t>4. ValidationService QA: </a:t>
            </a:r>
            <a:r>
              <a:rPr sz="1100">
                <a:solidFill>
                  <a:srgbClr val="94A3B8"/>
                </a:solidFill>
                <a:latin typeface="Segoe UI" panose="020B0502040204020203"/>
              </a:rPr>
              <a:t>Matches format flags, counting escape codes. Updates local scores and caches validation logs.</a:t>
            </a:r>
            <a:endParaRPr sz="1100">
              <a:solidFill>
                <a:srgbClr val="94A3B8"/>
              </a:solidFill>
              <a:latin typeface="Segoe UI" panose="020B0502040204020203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 b="1">
                <a:solidFill>
                  <a:srgbClr val="F8FAFC"/>
                </a:solidFill>
                <a:latin typeface="Segoe UI" panose="020B0502040204020203"/>
              </a:rPr>
              <a:t>5. RcGeneratorService: </a:t>
            </a:r>
            <a:r>
              <a:rPr sz="1100">
                <a:solidFill>
                  <a:srgbClr val="94A3B8"/>
                </a:solidFill>
                <a:latin typeface="Segoe UI" panose="020B0502040204020203"/>
              </a:rPr>
              <a:t>Sorts modified indices in descending order, replacing strings from bottom to top to preserve offsets.</a:t>
            </a:r>
            <a:endParaRPr sz="1100">
              <a:solidFill>
                <a:srgbClr val="94A3B8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LINGUISTIC LOCALIZATION PROCESS FLOW...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Application execution sequence showing tokenizing, cache-lookup, cognitive API, and local validation...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818CF8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46320" y="1371600"/>
            <a:ext cx="246888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Select sample.rc</a:t>
            </a:r>
            <a:br/>
            <a:r>
              <a:t>(User UI Upload)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1920240"/>
            <a:ext cx="24688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Extract English Strings</a:t>
            </a:r>
            <a:br/>
            <a:r>
              <a:t>(RcParserService tokenizer)</a:t>
            </a:r>
          </a:p>
        </p:txBody>
      </p:sp>
      <p:sp>
        <p:nvSpPr>
          <p:cNvPr id="7" name="Diamond 6"/>
          <p:cNvSpPr/>
          <p:nvPr/>
        </p:nvSpPr>
        <p:spPr>
          <a:xfrm>
            <a:off x="4663440" y="2468880"/>
            <a:ext cx="2834640" cy="640080"/>
          </a:xfrm>
          <a:prstGeom prst="diamond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 Memory</a:t>
            </a:r>
            <a:br/>
            <a:r>
              <a:t>Cache Hit?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291840"/>
            <a:ext cx="28346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Query Gemini API</a:t>
            </a:r>
            <a:br/>
            <a:r>
              <a:t>(Specialized Glossary Prompts)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3840480"/>
            <a:ext cx="28346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Translate Batch</a:t>
            </a:r>
            <a:br/>
            <a:r>
              <a:t>(Sequential Fallback Logic)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91840"/>
            <a:ext cx="28346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Load Cached Translation</a:t>
            </a:r>
            <a:br/>
            <a:r>
              <a:t>&amp; QA Stats (Sub-millisecond)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4389120"/>
            <a:ext cx="3383280" cy="45720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Grid Editor / In-Memory Strings</a:t>
            </a:r>
            <a:br/>
            <a:r>
              <a:t>(WPF Active Workspace)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029200"/>
            <a:ext cx="32918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Local Validation Service</a:t>
            </a:r>
            <a:br/>
            <a:r>
              <a:t>(Counts escapes / brackets)</a:t>
            </a:r>
          </a:p>
        </p:txBody>
      </p:sp>
      <p:sp>
        <p:nvSpPr>
          <p:cNvPr id="13" name="Diamond 12"/>
          <p:cNvSpPr/>
          <p:nvPr/>
        </p:nvSpPr>
        <p:spPr>
          <a:xfrm>
            <a:off x="548640" y="5577840"/>
            <a:ext cx="3291840" cy="365760"/>
          </a:xfrm>
          <a:prstGeom prst="diamond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Local Checks Pass?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126480"/>
            <a:ext cx="15544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Score: 0 / Needs Review</a:t>
            </a:r>
            <a:br/>
            <a:r>
              <a:t>(Requires correction retry)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6126480"/>
            <a:ext cx="15544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AI QA Validation &amp; Scoring</a:t>
            </a:r>
            <a:br/>
            <a:r>
              <a:t>(Analyzes Context &amp; Tone)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5029200"/>
            <a:ext cx="33832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Dynamic Preview Studio</a:t>
            </a:r>
            <a:br/>
            <a:r>
              <a:t>(Visual ribons &amp; mockups)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5577840"/>
            <a:ext cx="33832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Scan Resources</a:t>
            </a:r>
            <a:br/>
            <a:r>
              <a:t>(en-US.rc, ja-JP.rc, etc.)</a:t>
            </a:r>
          </a:p>
        </p:txBody>
      </p:sp>
      <p:sp>
        <p:nvSpPr>
          <p:cNvPr id="18" name="Double Brace 17"/>
          <p:cNvSpPr/>
          <p:nvPr/>
        </p:nvSpPr>
        <p:spPr>
          <a:xfrm>
            <a:off x="4389120" y="6126480"/>
            <a:ext cx="3383280" cy="36576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 Memory JSON</a:t>
            </a:r>
            <a:br/>
            <a:r>
              <a:t>(ja-JP.json database)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029200"/>
            <a:ext cx="32918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Generate Localized RC</a:t>
            </a:r>
            <a:br/>
            <a:r>
              <a:t>(RcGeneratorService rebuild)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577840"/>
            <a:ext cx="32918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Export Localized C++</a:t>
            </a:r>
            <a:br/>
            <a:r>
              <a:t>Resource RC File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17373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80760" y="228600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71800" y="2788920"/>
            <a:ext cx="1691640" cy="5029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31820" y="28117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No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98079" y="2788920"/>
            <a:ext cx="1691641" cy="5029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658100" y="28117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Yes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71800" y="365760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71800" y="4206240"/>
            <a:ext cx="1417320" cy="3657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4660" y="4160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Populate Grid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772400" y="3657600"/>
            <a:ext cx="1417320" cy="91440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95260" y="3886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Populate Grid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840480" y="4617720"/>
            <a:ext cx="548640" cy="5943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429000" y="46863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Validate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80760" y="484632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94960" y="47091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Preview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72400" y="4617720"/>
            <a:ext cx="548640" cy="5943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60920" y="46863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Generate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94560" y="53949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325880" y="5943600"/>
            <a:ext cx="86868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74419" y="5806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No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194560" y="5943600"/>
            <a:ext cx="86868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943100" y="5806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Yes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6309360"/>
            <a:ext cx="2286000" cy="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560320" y="6080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Save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840480" y="6309360"/>
            <a:ext cx="548640" cy="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429000" y="6080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Save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80760" y="53949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966960" y="53949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281160" y="5257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Safe rebuild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LINGUISTIC LOCALIZATION PROCESS FLOW...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Application execution sequence showing tokenizing, cache-lookup, cognitive API, and local validation...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818CF8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846320" y="1371600"/>
            <a:ext cx="246888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Select sample.rc</a:t>
            </a:r>
            <a:br/>
            <a:r>
              <a:t>(User UI Upload)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1920240"/>
            <a:ext cx="24688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Extract English Strings</a:t>
            </a:r>
            <a:br/>
            <a:r>
              <a:t>(RcParserService tokenizer)</a:t>
            </a:r>
          </a:p>
        </p:txBody>
      </p:sp>
      <p:sp>
        <p:nvSpPr>
          <p:cNvPr id="7" name="Diamond 6"/>
          <p:cNvSpPr/>
          <p:nvPr/>
        </p:nvSpPr>
        <p:spPr>
          <a:xfrm>
            <a:off x="4663440" y="2468880"/>
            <a:ext cx="2834640" cy="640080"/>
          </a:xfrm>
          <a:prstGeom prst="diamond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 Memory</a:t>
            </a:r>
            <a:br/>
            <a:r>
              <a:t>Cache Hit?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3291840"/>
            <a:ext cx="28346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Query Gemini API</a:t>
            </a:r>
            <a:br/>
            <a:r>
              <a:t>(Specialized Glossary Prompts)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1554480" y="3840480"/>
            <a:ext cx="28346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Translate Batch</a:t>
            </a:r>
            <a:br/>
            <a:r>
              <a:t>(Sequential Fallback Logic)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91840"/>
            <a:ext cx="28346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Load Cached Translation</a:t>
            </a:r>
            <a:br/>
            <a:r>
              <a:t>&amp; QA Stats (Sub-millisecond)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4389120"/>
            <a:ext cx="3383280" cy="45720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Grid Editor / In-Memory Strings</a:t>
            </a:r>
            <a:br/>
            <a:r>
              <a:t>(WPF Active Workspace)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029200"/>
            <a:ext cx="32918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Local Validation Service</a:t>
            </a:r>
            <a:br/>
            <a:r>
              <a:t>(Counts escapes / brackets)</a:t>
            </a:r>
          </a:p>
        </p:txBody>
      </p:sp>
      <p:sp>
        <p:nvSpPr>
          <p:cNvPr id="13" name="Diamond 12"/>
          <p:cNvSpPr/>
          <p:nvPr/>
        </p:nvSpPr>
        <p:spPr>
          <a:xfrm>
            <a:off x="548640" y="5577840"/>
            <a:ext cx="3291840" cy="365760"/>
          </a:xfrm>
          <a:prstGeom prst="diamond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Local Checks Pass?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126480"/>
            <a:ext cx="15544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Score: 0 / Needs Review</a:t>
            </a:r>
            <a:br/>
            <a:r>
              <a:t>(Requires correction retry)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6126480"/>
            <a:ext cx="15544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AI QA Validation &amp; Scoring</a:t>
            </a:r>
            <a:br/>
            <a:r>
              <a:t>(Analyzes Context &amp; Tone)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5029200"/>
            <a:ext cx="33832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Dynamic Preview Studio</a:t>
            </a:r>
            <a:br/>
            <a:r>
              <a:t>(Visual ribons &amp; mockups)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5577840"/>
            <a:ext cx="338328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Scan Resources</a:t>
            </a:r>
            <a:br/>
            <a:r>
              <a:t>(en-US.rc, ja-JP.rc, etc.)</a:t>
            </a:r>
          </a:p>
        </p:txBody>
      </p:sp>
      <p:sp>
        <p:nvSpPr>
          <p:cNvPr id="18" name="Double Brace 17"/>
          <p:cNvSpPr/>
          <p:nvPr/>
        </p:nvSpPr>
        <p:spPr>
          <a:xfrm>
            <a:off x="4389120" y="6126480"/>
            <a:ext cx="3383280" cy="36576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 Memory JSON</a:t>
            </a:r>
            <a:br/>
            <a:r>
              <a:t>(ja-JP.json database)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029200"/>
            <a:ext cx="3291840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Generate Localized RC</a:t>
            </a:r>
            <a:br/>
            <a:r>
              <a:t>(RcGeneratorService rebuild)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577840"/>
            <a:ext cx="3291840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Export Localized C++</a:t>
            </a:r>
            <a:br/>
            <a:r>
              <a:t>Resource RC File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17373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80760" y="228600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71800" y="2788920"/>
            <a:ext cx="1691640" cy="5029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31820" y="28117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No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98079" y="2788920"/>
            <a:ext cx="1691641" cy="5029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658100" y="28117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Yes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971800" y="365760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71800" y="4206240"/>
            <a:ext cx="1417320" cy="3657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4660" y="4160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Populate Grid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772400" y="3657600"/>
            <a:ext cx="1417320" cy="91440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95260" y="38862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Populate Grid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840480" y="4617720"/>
            <a:ext cx="548640" cy="5943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429000" y="46863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Validate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80760" y="484632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94960" y="47091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Preview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72400" y="4617720"/>
            <a:ext cx="548640" cy="5943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60920" y="46863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Generate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94560" y="53949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325880" y="5943600"/>
            <a:ext cx="86868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74419" y="5806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No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194560" y="5943600"/>
            <a:ext cx="86868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943100" y="5806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Yes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6309360"/>
            <a:ext cx="2286000" cy="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560320" y="6080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Save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840480" y="6309360"/>
            <a:ext cx="548640" cy="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429000" y="60807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Save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80760" y="53949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966960" y="5394960"/>
            <a:ext cx="0" cy="18288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281160" y="525780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Safe rebuild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SYSTEM ARCHITECTURE &amp; COMPONENT MAPPING...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Three-tier architecture showing Views layer, business Services layer, and Data/API layer integrations...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818CF8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0817352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VIEWS LAYER (WPF UI)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194560"/>
            <a:ext cx="457200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MainWindow.xaml / MainWindow.xaml.cs</a:t>
            </a:r>
            <a:br/>
            <a:r>
              <a:t>(Controls operations, displays grid editor, handles sequential button state validation)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194560"/>
            <a:ext cx="457200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PreviewWindow.xaml / PreviewWindow.xaml.cs</a:t>
            </a:r>
            <a:br/>
            <a:r>
              <a:t>(Simulates active dialog layouts in English, Japanese, French, etc.)</a:t>
            </a:r>
          </a:p>
        </p:txBody>
      </p:sp>
      <p:sp>
        <p:nvSpPr>
          <p:cNvPr id="8" name="Diamond 7"/>
          <p:cNvSpPr/>
          <p:nvPr/>
        </p:nvSpPr>
        <p:spPr>
          <a:xfrm>
            <a:off x="685800" y="3200400"/>
            <a:ext cx="10817352" cy="365760"/>
          </a:xfrm>
          <a:prstGeom prst="diamond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BUSINESS SERVICES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RcParserService</a:t>
            </a:r>
            <a:br/>
            <a:r>
              <a:t>(Lexical Tokenizer)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TranslationService</a:t>
            </a:r>
            <a:br/>
            <a:r>
              <a:t>(API Fallback Orchestrator)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AiValidationService</a:t>
            </a:r>
            <a:br/>
            <a:r>
              <a:t>(Gemini QA Auditor)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TranslationMemoryService</a:t>
            </a:r>
            <a:br/>
            <a:r>
              <a:t>(Local JSON Cache Coordinator)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RcGeneratorService</a:t>
            </a:r>
            <a:br/>
            <a:r>
              <a:t>(Reverse String Rebuilder)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54880"/>
            <a:ext cx="10817352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DATA &amp; EXTERNAL SERVICE INTEGRATIONS</a:t>
            </a:r>
          </a:p>
        </p:txBody>
      </p:sp>
      <p:sp>
        <p:nvSpPr>
          <p:cNvPr id="15" name="Double Brace 14"/>
          <p:cNvSpPr/>
          <p:nvPr/>
        </p:nvSpPr>
        <p:spPr>
          <a:xfrm>
            <a:off x="1371600" y="5303520"/>
            <a:ext cx="2743200" cy="64008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Input C++ Resource Script (.rc)</a:t>
            </a:r>
          </a:p>
        </p:txBody>
      </p:sp>
      <p:sp>
        <p:nvSpPr>
          <p:cNvPr id="16" name="Double Brace 15"/>
          <p:cNvSpPr/>
          <p:nvPr/>
        </p:nvSpPr>
        <p:spPr>
          <a:xfrm>
            <a:off x="4572000" y="5303520"/>
            <a:ext cx="3017520" cy="64008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 Memory Local Storage (ja-JP.json, etc.)</a:t>
            </a:r>
          </a:p>
        </p:txBody>
      </p:sp>
      <p:sp>
        <p:nvSpPr>
          <p:cNvPr id="17" name="Double Brace 16"/>
          <p:cNvSpPr/>
          <p:nvPr/>
        </p:nvSpPr>
        <p:spPr>
          <a:xfrm>
            <a:off x="8046720" y="5303520"/>
            <a:ext cx="2743200" cy="64008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Google Gemini AI Cognitive Service (API Endpoint)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0" y="2926080"/>
            <a:ext cx="18288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63239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User Inputs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321040" y="2926080"/>
            <a:ext cx="18288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26679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Simulates Layout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4480560"/>
            <a:ext cx="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0584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Reads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0" y="4480560"/>
            <a:ext cx="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4380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Cache Synced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4480560"/>
            <a:ext cx="731520" cy="8229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520439" y="4663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Misses Query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4480560"/>
            <a:ext cx="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73836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Writes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SYSTEM ARCHITECTURE &amp; COMPONENT MAPPING...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Three-tier architecture showing Views layer, business Services layer, and Data/API layer integrations...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818CF8"/>
          </a:solidFill>
          <a:ln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0817352" cy="36576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VIEWS LAYER (WPF UI)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194560"/>
            <a:ext cx="457200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MainWindow.xaml / MainWindow.xaml.cs</a:t>
            </a:r>
            <a:br/>
            <a:r>
              <a:t>(Controls operations, displays grid editor, handles sequential button state validation)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194560"/>
            <a:ext cx="457200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PreviewWindow.xaml / PreviewWindow.xaml.cs</a:t>
            </a:r>
            <a:br/>
            <a:r>
              <a:t>(Simulates active dialog layouts in English, Japanese, French, etc.)</a:t>
            </a:r>
          </a:p>
        </p:txBody>
      </p:sp>
      <p:sp>
        <p:nvSpPr>
          <p:cNvPr id="8" name="Diamond 7"/>
          <p:cNvSpPr/>
          <p:nvPr/>
        </p:nvSpPr>
        <p:spPr>
          <a:xfrm>
            <a:off x="685800" y="3200400"/>
            <a:ext cx="10817352" cy="365760"/>
          </a:xfrm>
          <a:prstGeom prst="diamond">
            <a:avLst/>
          </a:prstGeom>
          <a:solidFill>
            <a:srgbClr val="1E293B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BUSINESS SERVICES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RcParserService</a:t>
            </a:r>
            <a:br/>
            <a:r>
              <a:t>(Lexical Tokenizer)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TranslationService</a:t>
            </a:r>
            <a:br/>
            <a:r>
              <a:t>(API Fallback Orchestrator)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AiValidationService</a:t>
            </a:r>
            <a:br/>
            <a:r>
              <a:t>(Gemini QA Auditor)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TranslationMemoryService</a:t>
            </a:r>
            <a:br/>
            <a:r>
              <a:t>(Local JSON Cache Coordinator)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3749039"/>
            <a:ext cx="2011680" cy="731520"/>
          </a:xfrm>
          <a:prstGeom prst="rect">
            <a:avLst/>
          </a:prstGeom>
          <a:solidFill>
            <a:srgbClr val="1E293B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RcGeneratorService</a:t>
            </a:r>
            <a:br/>
            <a:r>
              <a:t>(Reverse String Rebuilder)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54880"/>
            <a:ext cx="10817352" cy="365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DATA &amp; EXTERNAL SERVICE INTEGRATIONS</a:t>
            </a:r>
          </a:p>
        </p:txBody>
      </p:sp>
      <p:sp>
        <p:nvSpPr>
          <p:cNvPr id="15" name="Double Brace 14"/>
          <p:cNvSpPr/>
          <p:nvPr/>
        </p:nvSpPr>
        <p:spPr>
          <a:xfrm>
            <a:off x="1371600" y="5303520"/>
            <a:ext cx="2743200" cy="64008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Input C++ Resource Script (.rc)</a:t>
            </a:r>
          </a:p>
        </p:txBody>
      </p:sp>
      <p:sp>
        <p:nvSpPr>
          <p:cNvPr id="16" name="Double Brace 15"/>
          <p:cNvSpPr/>
          <p:nvPr/>
        </p:nvSpPr>
        <p:spPr>
          <a:xfrm>
            <a:off x="4572000" y="5303520"/>
            <a:ext cx="3017520" cy="64008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Translation Memory Local Storage (ja-JP.json, etc.)</a:t>
            </a:r>
          </a:p>
        </p:txBody>
      </p:sp>
      <p:sp>
        <p:nvSpPr>
          <p:cNvPr id="17" name="Double Brace 16"/>
          <p:cNvSpPr/>
          <p:nvPr/>
        </p:nvSpPr>
        <p:spPr>
          <a:xfrm>
            <a:off x="8046720" y="5303520"/>
            <a:ext cx="2743200" cy="640080"/>
          </a:xfrm>
          <a:prstGeom prst="bracePair">
            <a:avLst/>
          </a:prstGeom>
          <a:solidFill>
            <a:srgbClr val="1E293B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defRPr sz="850" b="1">
                <a:solidFill>
                  <a:srgbClr val="FFFFFF"/>
                </a:solidFill>
                <a:latin typeface="Arial"/>
              </a:defRPr>
            </a:pPr>
            <a:r>
              <a:t>Google Gemini AI Cognitive Service (API Endpoint)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0" y="2926080"/>
            <a:ext cx="18288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63239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User Inputs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321040" y="2926080"/>
            <a:ext cx="18288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26679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Simulates Layout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4480560"/>
            <a:ext cx="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0584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Reads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0" y="4480560"/>
            <a:ext cx="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4380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Cache Synced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4480560"/>
            <a:ext cx="731520" cy="82296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520439" y="4663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Misses Query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4480560"/>
            <a:ext cx="0" cy="274320"/>
          </a:xfrm>
          <a:prstGeom prst="line">
            <a:avLst/>
          </a:prstGeom>
          <a:ln w="15240">
            <a:solidFill>
              <a:srgbClr val="F1F5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73836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94A3B8"/>
                </a:solidFill>
                <a:latin typeface="Arial"/>
              </a:defRPr>
            </a:pPr>
            <a:r>
              <a:t>Writes Output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Arial"/>
              </a:defRPr>
            </a:pPr>
            <a:r>
              <a:t>SYSTEM ARCHITECTURE &amp; COMPONENT MAPPING...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Three-Layered Design showing Views, Services, and API/Data Integrations...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ystem_architecture_diagram_1782037101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1645920"/>
            <a:ext cx="9144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Arial"/>
              </a:defRPr>
            </a:pPr>
            <a:r>
              <a:t>LINGUISTIC LOCALIZATION PROCESS FLOW...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Application execution sequence showing tokenizing, cache-lookup, cognitive API, and local validation...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46304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047857"/>
                </a:solidFill>
                <a:latin typeface="Arial"/>
              </a:defRPr>
            </a:pPr>
            <a:r>
              <a:t>Select sample.rc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108960"/>
            <a:ext cx="146304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Extract English</a:t>
            </a:r>
            <a:br/>
            <a:r>
              <a:t>(RcParserService)</a:t>
            </a:r>
          </a:p>
        </p:txBody>
      </p:sp>
      <p:sp>
        <p:nvSpPr>
          <p:cNvPr id="7" name="Diamond 6"/>
          <p:cNvSpPr/>
          <p:nvPr/>
        </p:nvSpPr>
        <p:spPr>
          <a:xfrm>
            <a:off x="2377440" y="2834640"/>
            <a:ext cx="1645920" cy="91440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1D4ED8"/>
                </a:solidFill>
                <a:latin typeface="Arial"/>
              </a:defRPr>
            </a:pPr>
            <a:r>
              <a:t>Translation Memory</a:t>
            </a:r>
            <a:br/>
            <a:r>
              <a:t>Hit?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01168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Load Cached Translation</a:t>
            </a:r>
            <a:br/>
            <a:r>
              <a:t>&amp; QA Stats (Sub-ms)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65760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Query Gemini API</a:t>
            </a:r>
            <a:br/>
            <a:r>
              <a:t>(Specialized Prompts)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466344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Translate Batch</a:t>
            </a:r>
            <a:br/>
            <a:r>
              <a:t>(Fallback Logic)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3017520"/>
            <a:ext cx="1828800" cy="731520"/>
          </a:xfrm>
          <a:prstGeom prst="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F46E5"/>
                </a:solidFill>
                <a:latin typeface="Arial"/>
              </a:defRPr>
            </a:pPr>
            <a:r>
              <a:t>Grid Editor</a:t>
            </a:r>
            <a:br/>
            <a:r>
              <a:t>In-Memory Strings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1554480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Local Validation</a:t>
            </a:r>
            <a:br/>
            <a:r>
              <a:t>(Counts &amp; Escapes)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9052560" y="2194560"/>
            <a:ext cx="1371600" cy="73152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1D4ED8"/>
                </a:solidFill>
                <a:latin typeface="Arial"/>
              </a:defRPr>
            </a:pPr>
            <a:r>
              <a:t>Local Checks</a:t>
            </a:r>
            <a:br/>
            <a:r>
              <a:t>Pass?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3108960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Score: 0</a:t>
            </a:r>
            <a:br/>
            <a:r>
              <a:t>Needs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0" y="2286000"/>
            <a:ext cx="11887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AI QA Validation</a:t>
            </a:r>
            <a:br/>
            <a:r>
              <a:t>(Evaluate Context)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98480" y="2926080"/>
            <a:ext cx="11887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Assign QA Score</a:t>
            </a:r>
            <a:br/>
            <a:r>
              <a:t>&amp; Feedback</a:t>
            </a:r>
          </a:p>
        </p:txBody>
      </p:sp>
      <p:sp>
        <p:nvSpPr>
          <p:cNvPr id="17" name="Double Brace 16"/>
          <p:cNvSpPr/>
          <p:nvPr/>
        </p:nvSpPr>
        <p:spPr>
          <a:xfrm>
            <a:off x="9966960" y="3749039"/>
            <a:ext cx="1463040" cy="457200"/>
          </a:xfrm>
          <a:prstGeom prst="bracePair">
            <a:avLst/>
          </a:prstGeom>
          <a:solidFill>
            <a:srgbClr val="F5F3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6D28D9"/>
                </a:solidFill>
                <a:latin typeface="Arial"/>
              </a:defRPr>
            </a:pPr>
            <a:r>
              <a:t>Translation Memory</a:t>
            </a:r>
            <a:br/>
            <a:r>
              <a:t>Cache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4389120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Open Preview Window</a:t>
            </a:r>
            <a:br/>
            <a:r>
              <a:t>(Dynamic Studio)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98480" y="4389120"/>
            <a:ext cx="118872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Scan Resources</a:t>
            </a:r>
            <a:br/>
            <a:r>
              <a:t>(en-US, ja-JP, etc.)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5029200"/>
            <a:ext cx="137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Generate Localized RC</a:t>
            </a:r>
            <a:br/>
            <a:r>
              <a:t>(RcGeneratorService)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698480" y="5029200"/>
            <a:ext cx="1188720" cy="4572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047857"/>
                </a:solidFill>
                <a:latin typeface="Arial"/>
              </a:defRPr>
            </a:pPr>
            <a:r>
              <a:t>Localized C++</a:t>
            </a:r>
            <a:br/>
            <a:r>
              <a:t>Resource RC File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88720" y="2560320"/>
            <a:ext cx="0" cy="54864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260603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RcParserService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920240" y="3291840"/>
            <a:ext cx="457200" cy="9144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463040" y="3108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Check Cache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3200400" y="2286000"/>
            <a:ext cx="1280160" cy="54864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54680" y="23317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Yes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00400" y="3749039"/>
            <a:ext cx="1280160" cy="182881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154680" y="361187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No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0" y="4206240"/>
            <a:ext cx="0" cy="45720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709160" y="42062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Model Fallback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309360" y="2286000"/>
            <a:ext cx="457200" cy="91440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852160" y="251460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Populate Grid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309360" y="3566160"/>
            <a:ext cx="457200" cy="137160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852160" y="40233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Populate Grid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8595360" y="1783080"/>
            <a:ext cx="457200" cy="160020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138160" y="235458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Validate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595360" y="3566160"/>
            <a:ext cx="457200" cy="105156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138160" y="386333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Preview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5360" y="3749039"/>
            <a:ext cx="457200" cy="1508761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38160" y="42748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Generate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738360" y="2011680"/>
            <a:ext cx="0" cy="18288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738360" y="2926080"/>
            <a:ext cx="0" cy="18288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52560" y="27889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No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10424160" y="2514600"/>
            <a:ext cx="274320" cy="4572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875520" y="23088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Yes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292840" y="2743200"/>
            <a:ext cx="0" cy="18288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738360" y="3566160"/>
            <a:ext cx="320040" cy="411479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212580" y="354330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Save to Cache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292840" y="3383280"/>
            <a:ext cx="137160" cy="594359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424160" y="4617720"/>
            <a:ext cx="274320" cy="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424160" y="5257800"/>
            <a:ext cx="274320" cy="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75520" y="502920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Safe Replacements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E293B"/>
                </a:solidFill>
                <a:latin typeface="Arial"/>
              </a:defRPr>
            </a:pPr>
            <a:r>
              <a:t>SYSTEM ARCHITECTURE &amp; COMPONENT MAPPING...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8173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Arial"/>
              </a:defRPr>
            </a:pPr>
            <a:r>
              <a:t>Three-tier architecture showing Views layer, business Services layer, and Data/API layer integrations...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10817352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10817352" cy="365760"/>
          </a:xfrm>
          <a:prstGeom prst="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F46E5"/>
                </a:solidFill>
                <a:latin typeface="Arial"/>
              </a:defRPr>
            </a:pPr>
            <a:r>
              <a:t>VIEWS LAYER (WPF UI)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194560"/>
            <a:ext cx="457200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MainWindow.xaml / MainWindow.xaml.cs</a:t>
            </a:r>
            <a:br/>
            <a:r>
              <a:t>(Controls operations, displays grid editor, handles sequential button state validation)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194560"/>
            <a:ext cx="457200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PreviewWindow.xaml / PreviewWindow.xaml.cs</a:t>
            </a:r>
            <a:br/>
            <a:r>
              <a:t>(Simulates active dialog layouts in English, Japanese, French, etc.)</a:t>
            </a:r>
          </a:p>
        </p:txBody>
      </p:sp>
      <p:sp>
        <p:nvSpPr>
          <p:cNvPr id="8" name="Diamond 7"/>
          <p:cNvSpPr/>
          <p:nvPr/>
        </p:nvSpPr>
        <p:spPr>
          <a:xfrm>
            <a:off x="685800" y="3200400"/>
            <a:ext cx="10817352" cy="365760"/>
          </a:xfrm>
          <a:prstGeom prst="diamond">
            <a:avLst/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1D4ED8"/>
                </a:solidFill>
                <a:latin typeface="Arial"/>
              </a:defRPr>
            </a:pPr>
            <a:r>
              <a:t>BUSINESS SERVICES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49039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RcParserService</a:t>
            </a:r>
            <a:br/>
            <a:r>
              <a:t>(Lexical Tokenizer)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3749039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TranslationService</a:t>
            </a:r>
            <a:br/>
            <a:r>
              <a:t>(API Fallback Orchestrator)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749039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AiValidationService</a:t>
            </a:r>
            <a:br/>
            <a:r>
              <a:t>(Gemini QA Auditor)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3749039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TranslationMemoryService</a:t>
            </a:r>
            <a:br/>
            <a:r>
              <a:t>(Local JSON Cache Coordinator)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3749039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475569"/>
                </a:solidFill>
                <a:latin typeface="Arial"/>
              </a:defRPr>
            </a:pPr>
            <a:r>
              <a:t>RcGeneratorService</a:t>
            </a:r>
            <a:br/>
            <a:r>
              <a:t>(Reverse String Rebuilder)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54880"/>
            <a:ext cx="10817352" cy="365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047857"/>
                </a:solidFill>
                <a:latin typeface="Arial"/>
              </a:defRPr>
            </a:pPr>
            <a:r>
              <a:t>DATA &amp; EXTERNAL SERVICE INTEGRATIONS</a:t>
            </a:r>
          </a:p>
        </p:txBody>
      </p:sp>
      <p:sp>
        <p:nvSpPr>
          <p:cNvPr id="15" name="Double Brace 14"/>
          <p:cNvSpPr/>
          <p:nvPr/>
        </p:nvSpPr>
        <p:spPr>
          <a:xfrm>
            <a:off x="1371600" y="5303520"/>
            <a:ext cx="2743200" cy="640080"/>
          </a:xfrm>
          <a:prstGeom prst="bracePair">
            <a:avLst/>
          </a:prstGeom>
          <a:solidFill>
            <a:srgbClr val="F5F3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6D28D9"/>
                </a:solidFill>
                <a:latin typeface="Arial"/>
              </a:defRPr>
            </a:pPr>
            <a:r>
              <a:t>Input C++ Resource Script (.rc)</a:t>
            </a:r>
          </a:p>
        </p:txBody>
      </p:sp>
      <p:sp>
        <p:nvSpPr>
          <p:cNvPr id="16" name="Double Brace 15"/>
          <p:cNvSpPr/>
          <p:nvPr/>
        </p:nvSpPr>
        <p:spPr>
          <a:xfrm>
            <a:off x="4572000" y="5303520"/>
            <a:ext cx="3017520" cy="640080"/>
          </a:xfrm>
          <a:prstGeom prst="bracePair">
            <a:avLst/>
          </a:prstGeom>
          <a:solidFill>
            <a:srgbClr val="F5F3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6D28D9"/>
                </a:solidFill>
                <a:latin typeface="Arial"/>
              </a:defRPr>
            </a:pPr>
            <a:r>
              <a:t>Translation Memory Local Storage (ja-JP.json, etc.)</a:t>
            </a:r>
          </a:p>
        </p:txBody>
      </p:sp>
      <p:sp>
        <p:nvSpPr>
          <p:cNvPr id="17" name="Double Brace 16"/>
          <p:cNvSpPr/>
          <p:nvPr/>
        </p:nvSpPr>
        <p:spPr>
          <a:xfrm>
            <a:off x="8046720" y="5303520"/>
            <a:ext cx="2743200" cy="640080"/>
          </a:xfrm>
          <a:prstGeom prst="bracePair">
            <a:avLst/>
          </a:prstGeom>
          <a:solidFill>
            <a:srgbClr val="F5F3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950" b="1">
                <a:solidFill>
                  <a:srgbClr val="6D28D9"/>
                </a:solidFill>
                <a:latin typeface="Arial"/>
              </a:defRPr>
            </a:pPr>
            <a:r>
              <a:t>Google Gemini AI Cognitive Service (API Endpoint)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0" y="2926080"/>
            <a:ext cx="182880" cy="27432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63239" y="28346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User Inputs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321040" y="2926080"/>
            <a:ext cx="182880" cy="27432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26679" y="28346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Simulates Layout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4480560"/>
            <a:ext cx="0" cy="27432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05840" y="43891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Reads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0" y="4480560"/>
            <a:ext cx="0" cy="27432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43800" y="43891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Cache Synced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840480" y="4480560"/>
            <a:ext cx="731520" cy="82296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520439" y="466344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Misses Query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424160" y="4480560"/>
            <a:ext cx="0" cy="27432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738360" y="43891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Arial"/>
              </a:defRPr>
            </a:pPr>
            <a:r>
              <a:t>Writes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11534</Words>
  <Application>WPS Presentation</Application>
  <PresentationFormat>On-screen Show (4:3)</PresentationFormat>
  <Paragraphs>198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SimSun</vt:lpstr>
      <vt:lpstr>Wingdings</vt:lpstr>
      <vt:lpstr>Arial</vt:lpstr>
      <vt:lpstr>Century Gothic</vt:lpstr>
      <vt:lpstr>Segoe UI</vt:lpstr>
      <vt:lpstr>Consolas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22510048 MAHADIK SARTHAK DIPAK</cp:lastModifiedBy>
  <cp:revision>2</cp:revision>
  <dcterms:created xsi:type="dcterms:W3CDTF">2013-01-27T09:14:00Z</dcterms:created>
  <dcterms:modified xsi:type="dcterms:W3CDTF">2026-06-20T10:51:10Z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7322D5C637014163A17A81426A1896FC_12</vt:lpwstr>
  </property>
</Properties>
</file>